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81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headline. The County holds the contractual leverage: most base contracts can be exited on short notice and most renewals are at the County's option. The near-term exposure is $30.6M ending by April 2027, and $26M of that is one construction contract, #23159, ending Dec 31. That is the decision to force now. Spend is concentrated, so five vendor relationships deserve most of the negotiating effort. The bigger structural issue is the records: 172 of 206 families have no confirmed live term. Close on the three asks, each with an owner and 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176000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2300" dirty="0">
                <a:solidFill>
                  <a:srgbClr val="16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508000" y="1357610"/>
            <a:ext cx="10871200" cy="468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176000" cy="671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2300" dirty="0">
                <a:solidFill>
                  <a:srgbClr val="16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508000" y="1357610"/>
            <a:ext cx="10871200" cy="468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511280" cy="69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i="0" dirty="0">
                <a:solidFill>
                  <a:srgbClr val="1623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County controls most contract terms, but </a:t>
            </a:r>
            <a:r>
              <a:rPr lang="en-US" b="1" dirty="0"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important to get a grasp on most important vendors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8000" y="1057921"/>
            <a:ext cx="1151128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Lake County, IL procurement archive · 381 unique documents · 165 vendors · as of Oct 12, 2026</a:t>
            </a:r>
            <a:endParaRPr lang="en-US" sz="1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5E7844-8888-8BBF-12DD-D507CF466052}"/>
              </a:ext>
            </a:extLst>
          </p:cNvPr>
          <p:cNvGrpSpPr/>
          <p:nvPr/>
        </p:nvGrpSpPr>
        <p:grpSpPr>
          <a:xfrm>
            <a:off x="508000" y="1538208"/>
            <a:ext cx="2682875" cy="3058319"/>
            <a:chOff x="511175" y="1495375"/>
            <a:chExt cx="2682875" cy="3058319"/>
          </a:xfrm>
        </p:grpSpPr>
        <p:sp>
          <p:nvSpPr>
            <p:cNvPr id="4" name="Shape 2"/>
            <p:cNvSpPr/>
            <p:nvPr/>
          </p:nvSpPr>
          <p:spPr>
            <a:xfrm>
              <a:off x="511175" y="1495375"/>
              <a:ext cx="2682875" cy="3058319"/>
            </a:xfrm>
            <a:prstGeom prst="roundRect">
              <a:avLst>
                <a:gd name="adj" fmla="val 2249"/>
              </a:avLst>
            </a:prstGeom>
            <a:solidFill>
              <a:srgbClr val="FFFDF9"/>
            </a:solidFill>
            <a:ln w="6350">
              <a:solidFill>
                <a:srgbClr val="D9D4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666750" y="1663650"/>
              <a:ext cx="2442877" cy="402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486"/>
                </a:lnSpc>
                <a:buNone/>
              </a:pPr>
              <a:r>
                <a:rPr lang="en-US" sz="1189" b="1" kern="0" spc="50" dirty="0">
                  <a:solidFill>
                    <a:srgbClr val="A8481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1 · The County has leverage</a:t>
              </a:r>
              <a:endParaRPr lang="en-US" sz="1189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6750" y="2104678"/>
              <a:ext cx="2442877" cy="527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965"/>
                </a:lnSpc>
                <a:buNone/>
              </a:pPr>
              <a:r>
                <a:rPr lang="en-US" sz="3776" b="1" dirty="0">
                  <a:solidFill>
                    <a:srgbClr val="16233B"/>
                  </a:solidFill>
                  <a:latin typeface="Source Serif 4" pitchFamily="18" charset="0"/>
                  <a:ea typeface="Source Serif 4" pitchFamily="18" charset="-122"/>
                  <a:cs typeface="Source Serif 4" pitchFamily="18" charset="-120"/>
                </a:rPr>
                <a:t>91%</a:t>
              </a:r>
              <a:endParaRPr lang="en-US" sz="3776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66750" y="2670274"/>
              <a:ext cx="2442877" cy="874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77"/>
                </a:lnSpc>
                <a:buNone/>
              </a:pPr>
              <a:r>
                <a:rPr lang="en-US" sz="1242" dirty="0">
                  <a:solidFill>
                    <a:srgbClr val="2E374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186 allow for County option to renew, 9 are automatic, 8 have mutual agreement, 2 are vendor option</a:t>
              </a:r>
              <a:endParaRPr lang="en-US" sz="1242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66750" y="3653086"/>
              <a:ext cx="2371725" cy="0"/>
            </a:xfrm>
            <a:prstGeom prst="line">
              <a:avLst/>
            </a:prstGeom>
            <a:noFill/>
            <a:ln w="12700">
              <a:solidFill>
                <a:srgbClr val="16233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666750" y="3748336"/>
              <a:ext cx="2442877" cy="662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l">
                <a:lnSpc>
                  <a:spcPts val="1672"/>
                </a:lnSpc>
                <a:buNone/>
              </a:pPr>
              <a:r>
                <a:rPr lang="en-US" sz="1238" b="1" dirty="0">
                  <a:solidFill>
                    <a:srgbClr val="16233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Priority renewals are opportunity for a renegotiation. Benchmark or rebid before extending.</a:t>
              </a:r>
              <a:endParaRPr lang="en-US" sz="1238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7556BB9-D003-9C48-B380-3D3A16FB3123}"/>
              </a:ext>
            </a:extLst>
          </p:cNvPr>
          <p:cNvGrpSpPr/>
          <p:nvPr/>
        </p:nvGrpSpPr>
        <p:grpSpPr>
          <a:xfrm>
            <a:off x="4494205" y="1540659"/>
            <a:ext cx="2780355" cy="3058319"/>
            <a:chOff x="3340100" y="1495375"/>
            <a:chExt cx="2682875" cy="3058319"/>
          </a:xfrm>
        </p:grpSpPr>
        <p:sp>
          <p:nvSpPr>
            <p:cNvPr id="10" name="Shape 8"/>
            <p:cNvSpPr/>
            <p:nvPr/>
          </p:nvSpPr>
          <p:spPr>
            <a:xfrm>
              <a:off x="3340100" y="1495375"/>
              <a:ext cx="2682875" cy="3058319"/>
            </a:xfrm>
            <a:prstGeom prst="roundRect">
              <a:avLst>
                <a:gd name="adj" fmla="val 2249"/>
              </a:avLst>
            </a:prstGeom>
            <a:solidFill>
              <a:srgbClr val="FFFDF9"/>
            </a:solidFill>
            <a:ln w="6350">
              <a:solidFill>
                <a:srgbClr val="D9D4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495675" y="1663650"/>
              <a:ext cx="2442877" cy="3718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383"/>
                </a:lnSpc>
                <a:buNone/>
              </a:pPr>
              <a:r>
                <a:rPr lang="en-US" sz="1106" b="1" kern="0" spc="50" dirty="0">
                  <a:solidFill>
                    <a:srgbClr val="A8481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 · One outsized contract expiring</a:t>
              </a:r>
              <a:endParaRPr lang="en-US" sz="1106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95675" y="2073573"/>
              <a:ext cx="2442877" cy="486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666"/>
                </a:lnSpc>
                <a:buNone/>
              </a:pPr>
              <a:r>
                <a:rPr lang="en-US" sz="3491" b="1" dirty="0">
                  <a:solidFill>
                    <a:srgbClr val="16233B"/>
                  </a:solidFill>
                  <a:latin typeface="Source Serif 4" pitchFamily="18" charset="0"/>
                  <a:ea typeface="Source Serif 4" pitchFamily="18" charset="-122"/>
                  <a:cs typeface="Source Serif 4" pitchFamily="18" charset="-120"/>
                </a:rPr>
                <a:t>$950k</a:t>
              </a:r>
              <a:endParaRPr lang="en-US" sz="3491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95675" y="2597845"/>
              <a:ext cx="2442877" cy="938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10000"/>
            </a:bodyPr>
            <a:lstStyle/>
            <a:p>
              <a:pPr marL="0" indent="0" algn="l">
                <a:lnSpc>
                  <a:spcPts val="1540"/>
                </a:lnSpc>
                <a:buNone/>
              </a:pPr>
              <a:r>
                <a:rPr lang="en-US" sz="1141" dirty="0">
                  <a:solidFill>
                    <a:srgbClr val="2E374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reaches term end by April 2027. $654k is from contract #21022 ending 12/31/26</a:t>
              </a:r>
            </a:p>
            <a:p>
              <a:pPr marL="0" indent="0" algn="l">
                <a:lnSpc>
                  <a:spcPts val="1540"/>
                </a:lnSpc>
                <a:buNone/>
              </a:pPr>
              <a:endParaRPr lang="en-US" sz="1141" dirty="0">
                <a:solidFill>
                  <a:srgbClr val="2E374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endParaRPr>
            </a:p>
            <a:p>
              <a:pPr marL="0" indent="0" algn="l">
                <a:lnSpc>
                  <a:spcPts val="1540"/>
                </a:lnSpc>
                <a:buNone/>
              </a:pPr>
              <a:r>
                <a:rPr lang="en-US" sz="1141" dirty="0">
                  <a:solidFill>
                    <a:srgbClr val="2E374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$26M contract for #23159 (Leopardo / AGAE / McDonagh), without clear expiration</a:t>
              </a:r>
              <a:endParaRPr lang="en-US" sz="1141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495675" y="3605907"/>
              <a:ext cx="2371725" cy="0"/>
            </a:xfrm>
            <a:prstGeom prst="line">
              <a:avLst/>
            </a:prstGeom>
            <a:noFill/>
            <a:ln w="12700">
              <a:solidFill>
                <a:srgbClr val="16233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3495675" y="3748782"/>
              <a:ext cx="2442877" cy="804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35"/>
                </a:lnSpc>
                <a:buNone/>
              </a:pPr>
              <a:r>
                <a:rPr lang="en-US" sz="1211" b="1" dirty="0">
                  <a:solidFill>
                    <a:srgbClr val="16233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Settle renew vs. rebid on #21022 by mid-November. Treat the others as lower priority but keep on calendar</a:t>
              </a:r>
              <a:endParaRPr lang="en-US" sz="1211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155BE9E-774D-4DAC-981F-B5374B4CB2C9}"/>
              </a:ext>
            </a:extLst>
          </p:cNvPr>
          <p:cNvGrpSpPr/>
          <p:nvPr/>
        </p:nvGrpSpPr>
        <p:grpSpPr>
          <a:xfrm>
            <a:off x="8480411" y="1533118"/>
            <a:ext cx="2682875" cy="3058319"/>
            <a:chOff x="6169025" y="1495375"/>
            <a:chExt cx="2682875" cy="3058319"/>
          </a:xfrm>
        </p:grpSpPr>
        <p:sp>
          <p:nvSpPr>
            <p:cNvPr id="16" name="Shape 14"/>
            <p:cNvSpPr/>
            <p:nvPr/>
          </p:nvSpPr>
          <p:spPr>
            <a:xfrm>
              <a:off x="6169025" y="1495375"/>
              <a:ext cx="2682875" cy="3058319"/>
            </a:xfrm>
            <a:prstGeom prst="roundRect">
              <a:avLst>
                <a:gd name="adj" fmla="val 2249"/>
              </a:avLst>
            </a:prstGeom>
            <a:solidFill>
              <a:srgbClr val="FFFDF9"/>
            </a:solidFill>
            <a:ln w="6350">
              <a:solidFill>
                <a:srgbClr val="D9D4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6324600" y="1663650"/>
              <a:ext cx="2442877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kern="0" spc="50" dirty="0">
                  <a:solidFill>
                    <a:srgbClr val="A8481F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 · Spend is concentrated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324600" y="1917650"/>
              <a:ext cx="2442877" cy="532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3990"/>
                </a:lnSpc>
                <a:buNone/>
              </a:pPr>
              <a:r>
                <a:rPr lang="en-US" sz="3800" b="1" dirty="0">
                  <a:solidFill>
                    <a:srgbClr val="16233B"/>
                  </a:solidFill>
                  <a:latin typeface="Source Serif 4" pitchFamily="18" charset="0"/>
                  <a:ea typeface="Source Serif 4" pitchFamily="18" charset="-122"/>
                  <a:cs typeface="Source Serif 4" pitchFamily="18" charset="-120"/>
                </a:rPr>
                <a:t>78%</a:t>
              </a:r>
              <a:endParaRPr lang="en-US" sz="3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24600" y="2487861"/>
              <a:ext cx="2442877" cy="882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8"/>
                </a:lnSpc>
                <a:buNone/>
              </a:pPr>
              <a:r>
                <a:rPr lang="en-US" sz="1250" dirty="0">
                  <a:solidFill>
                    <a:srgbClr val="2E374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of ~$23.8M stated award value either active or with undefined expiration date, $18.1M is from 6 vendors</a:t>
              </a:r>
              <a:endParaRPr lang="en-US" sz="12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324600" y="3861544"/>
              <a:ext cx="2371725" cy="0"/>
            </a:xfrm>
            <a:prstGeom prst="line">
              <a:avLst/>
            </a:prstGeom>
            <a:noFill/>
            <a:ln w="12700">
              <a:solidFill>
                <a:srgbClr val="16233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6324600" y="3956794"/>
              <a:ext cx="2442877" cy="454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688"/>
                </a:lnSpc>
                <a:buNone/>
              </a:pPr>
              <a:r>
                <a:rPr lang="en-US" sz="1250" b="1" dirty="0">
                  <a:solidFill>
                    <a:srgbClr val="16233B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Focus negotiation and oversight on these six relationships.</a:t>
              </a:r>
              <a:endParaRPr lang="en-US" sz="125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508000" y="4721969"/>
            <a:ext cx="11176000" cy="1272431"/>
          </a:xfrm>
          <a:prstGeom prst="roundRect">
            <a:avLst>
              <a:gd name="adj" fmla="val 499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1200" y="4874369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E8B4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ASKS OF MANAGEMENT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1200" y="5176589"/>
            <a:ext cx="352313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renew vs. rebid on #21022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1200" y="5429300"/>
            <a:ext cx="352313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Owners are Procurement and CFO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5717" y="5176589"/>
            <a:ext cx="3523183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an act-by calendar for the other expiring contracts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5717" y="5643910"/>
            <a:ext cx="352318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is Procurement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60283" y="5176589"/>
            <a:ext cx="3523132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3F1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 the lapsed contracts against Finance payments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0283" y="5643910"/>
            <a:ext cx="352313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is CFO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ke County Contracts Summary">
  <a:themeElements>
    <a:clrScheme name="Lake County Contracts Summary">
      <a:dk1>
        <a:srgbClr val="16233B"/>
      </a:dk1>
      <a:lt1>
        <a:srgbClr val="F3F1EA"/>
      </a:lt1>
      <a:dk2>
        <a:srgbClr val="4D5767"/>
      </a:dk2>
      <a:lt2>
        <a:srgbClr val="DDDCD9"/>
      </a:lt2>
      <a:accent1>
        <a:srgbClr val="A8481F"/>
      </a:accent1>
      <a:accent2>
        <a:srgbClr val="E8B48F"/>
      </a:accent2>
      <a:accent3>
        <a:srgbClr val="BFC8D6"/>
      </a:accent3>
      <a:accent4>
        <a:srgbClr val="4A5263"/>
      </a:accent4>
      <a:accent5>
        <a:srgbClr val="5D6575"/>
      </a:accent5>
      <a:accent6>
        <a:srgbClr val="9AA0A6"/>
      </a:accent6>
      <a:hlink>
        <a:srgbClr val="0563C1"/>
      </a:hlink>
      <a:folHlink>
        <a:srgbClr val="954F72"/>
      </a:folHlink>
    </a:clrScheme>
    <a:fontScheme name="Lake County Contracts Summary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329</Words>
  <Application>Microsoft Macintosh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IBM Plex Sans</vt:lpstr>
      <vt:lpstr>Source Serif 4</vt:lpstr>
      <vt:lpstr>Lake County Contracts Summary</vt:lpstr>
      <vt:lpstr>The County controls most contract terms, but important to get a grasp on most important vendors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 County Contracts Summary</dc:title>
  <dc:subject/>
  <dc:creator/>
  <cp:lastModifiedBy>Jason Rubenstein</cp:lastModifiedBy>
  <cp:revision>23</cp:revision>
  <dcterms:created xsi:type="dcterms:W3CDTF">2026-10-13T12:06:10Z</dcterms:created>
  <dcterms:modified xsi:type="dcterms:W3CDTF">2026-10-13T22:41:23Z</dcterms:modified>
</cp:coreProperties>
</file>