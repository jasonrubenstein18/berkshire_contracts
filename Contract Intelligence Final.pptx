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64" r:id="rId2"/>
    <p:sldId id="256" r:id="rId3"/>
    <p:sldId id="265" r:id="rId4"/>
    <p:sldId id="266" r:id="rId5"/>
    <p:sldId id="267" r:id="rId6"/>
    <p:sldId id="258"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4610"/>
  </p:normalViewPr>
  <p:slideViewPr>
    <p:cSldViewPr snapToGrid="0" snapToObjects="1">
      <p:cViewPr varScale="1">
        <p:scale>
          <a:sx n="126" d="100"/>
          <a:sy n="126" d="100"/>
        </p:scale>
        <p:origin x="58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44110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is the offline pipeline, run once with the contracts command line. Inventory profiles all 389 PDFs in the zip: text layer versus scan, encryption, upload wrappers, malformed files, exact duplicates, and contract families inferred from the contract numbers in file names. That gives 381 unique documents and 8 exact duplicates. Parse reads the PyMuPDF text layer first and runs Tesseract OCR at 300 dpi on pages with little or garbled text: 1,648 of 4,530 pages. Chunk builds 12,825 page-bounded, heading-aware passages sized to the retrieval model's window. Extract makes one structured-output call per document with gpt-5-mini; each field must return a status, value, verbatim quote, page and confidence. Verify checks every quote against the page text and dates against each other, and sends flagged fields to a second read with more reasoning effort, which happened on 25 documents. Index encodes passages with answerai-colbert-small, one 96-dimension vector per token: 2.1 million vectors, 657 MB, compressed with a PLAID index, with BM25 alongside as the baseline. Then export to SQLite, CSV and Excel. Total extraction cost was $4.41.</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contract becomes one row in a spreadsheet with 19 columns. The columns answer four questions anyone running, buying or selling a business asks about its contracts. Who is it with and what is it for: contract number, document type, vendor, description. When does it end and who decides whether it continues: start and end dates, renewal terms, automatic renewal, notice period. What is it worth: dollar amount and how pricing works. What happens if things go wrong: whether the County can cancel without a reason, caps on damages and who pays if someone sues, insurance and which state's law applies, and whether the contract can pass to a new owner. Every value carries the source sentence and page, so a reviewer can check it in one click.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Every question passes the guardrails first: a login, a per-session rate limit of six a minute, a 600-character cap, and a daily AI budget. The router is gpt-5-mini at low reasoning effort. It never writes SQL. It fills in a Pydantic-validated query plan: the route, filters on an allowlisted set of fields and operators, grouping, the named contracts or vendors, and a search query. Data cuts run as ordinary code over the contracts table, so the same question gets the same count every time; award totals are de-duplicated by contract family. Clause questions use late interaction: PLAID returns 200 candidates, those are re-scored with exact MaxSim on full-precision token vectors, the top 8 passages, capped per file, pass a relevance gate, and the answer model must use only those sources, cite every sentence, and say so when the sources don't answer. Citations are checked against the passages actually provided. The gate scores only the question's own tokens, because the 25 query-expansion tokens match almost anything. Hybrid questions filter first, then search inside the matches. If the router fails, the app falls back to text search; if answer writing fails or the budget is spent, it shows the most relevant passages.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table was strong on the first run: 95% right, with a 95% range of 89 to 98%. The chat was the weak spot: 1 of 6 real questions fully right. Most mistakes happened before the answer was written, when the system decided which contracts to look at. Grey Wall Veoci: Veoci is the product, not the vendor, so a vendor search found nothing. Appin Associates: a loose match on Associates pulled in other vendors and added three contracts together. Motorola: one lease was filed as an agreement, so a lease filter dropped it and only half the question was answered. Modification 2: the right page was the top result, but the file was named Modification_1 and the system said it couldn't find it. Starbucks: there is no Starbucks contract, but it presented another vendor's price-increase clause. Axon: in a 129-page contract it recorded no auto-renewal and missed the wording on page 97. How the fixes were checked: 73 automated tests, all passing. All 10 questions rerun from scratch with no cached answers: the AI grader marked every real question correct and the table held at 95%. The previously failing questions were run several times and came out right every time; Modification 2 was right 5 of 5 after one more fix. Then a brand-new exam: 10 new contracts, skipping anything related to the old ones, and 10 new questions, four with traps for exactly these mistakes: a vendor whose name starts with Lake County, a mislabeled modification file, a vendor with several related documents, and a price table. I checked the answer sheet against the PDFs and all 10 came back right. Caveats: the exams are small, so read them as where it breaks, not precise rates. The post-fix rerun was graded by the AI grader and my hand check, not yet in the formal grading sheet, and the new exam's table facts weren't formally scored.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app is live at berkshire-contracts.fly.dev. It runs on one Fly.io machine in Newark with 2 shared CPUs and 4 GB, kept always on, with a health check on /healthz. Caddy is the only public listener. It sends /mcp to the MCP server on port 8000 and everything else to the Gradio app on port 7860; both stay on localhost and share one Python process, so the retrieval model loads once and runs on CPU. The Docker image is built with uv from the lockfile and pre-downloads the retrieval model, and it carries the database, the index, the staged PDFs, the exports and the evaluation results. deploy_fly.py stages all of that, snapshots the database, refuses to include .env, the raw zip or the brief, sends secrets to Fly on stdin, and generates the MCP token if one is missing. Claude Tag: the claude-tag folder is a plugin attached in the Claude Tag admin console for the Slack workspace. Its .mcp.json points at the /mcp endpoint, and its ask-contracts skill tells Claude to call the tool, quote its answer with file and page, say when the documents don't cover the question, and never invent a clause, date or amount. The MCP server exposes one tool, ask_contracts, over stateless streamable HTTP, and rejects any request without the exact bearer token, compared in constant time; an empty token rejects everything rather than leaving the tool open. The reply is plain text: the answer, a markdown table for data cuts, and the cited file and page. OpenAI calls use store=false; in production that would move to a zero-retention agreement or Azure OpenAI in the firm's tenant.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choice, give the trade-off. It shows its work: for every value, the AI copies the exact sentence and page it came from, and a program confirms that sentence is on that page. The check passed for 99.8% of 3,775 values. The trade-off is that it leaves a field blank rather than guess. The AI never writes database code: it fills in a form (which filter, which field), and ordinary code does the counting. The same question gets the same count every time, and every request is logged. Unusual questions fall back to text search. Search compares every word of the question with every word of each passage (late interaction). That's why "twenty million dollars" finds "$20,000,000". Be candid: on my test it tied with plain keyword search (BM25). One mid-priced model handles every step (gpt-5-mini), with a slower second read for flagged fields. I didn't compare models; my test set is how I would. The data lives in a single-file database plus spreadsheets, so anyone can open it without setup. Test results: 95 of 100 hand-checked field values correct across 10 documents (95% interval 89 to 98%).</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ECE8D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78520"/>
            <a:ext cx="10566400" cy="502890"/>
          </a:xfrm>
          <a:prstGeom prst="rect">
            <a:avLst/>
          </a:prstGeom>
          <a:noFill/>
          <a:ln/>
        </p:spPr>
        <p:txBody>
          <a:bodyPr wrap="square" lIns="0" tIns="0" rIns="0" bIns="0" rtlCol="0" anchor="t"/>
          <a:lstStyle>
            <a:lvl1pPr marL="0" indent="0" algn="l">
              <a:lnSpc>
                <a:spcPct val="115000"/>
              </a:lnSpc>
              <a:buNone/>
              <a:defRPr lang="en-US" sz="3600" dirty="0">
                <a:solidFill>
                  <a:srgbClr val="16233B"/>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86211"/>
            <a:ext cx="10566400" cy="4058989"/>
          </a:xfrm>
          <a:prstGeom prst="rect">
            <a:avLst/>
          </a:prstGeom>
          <a:noFill/>
          <a:ln/>
        </p:spPr>
        <p:txBody>
          <a:bodyPr wrap="square" lIns="0" tIns="0" rIns="0" bIns="0" rtlCol="0" anchor="t"/>
          <a:lstStyle>
            <a:lvl1pPr marL="0" indent="0" algn="l">
              <a:lnSpc>
                <a:spcPct val="140000"/>
              </a:lnSpc>
              <a:buNone/>
              <a:defRPr lang="en-US" sz="1600" dirty="0">
                <a:solidFill>
                  <a:srgbClr val="16233B"/>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CE8D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78520"/>
            <a:ext cx="10566400" cy="502890"/>
          </a:xfrm>
          <a:prstGeom prst="rect">
            <a:avLst/>
          </a:prstGeom>
          <a:noFill/>
          <a:ln/>
        </p:spPr>
        <p:txBody>
          <a:bodyPr wrap="square" lIns="0" tIns="0" rIns="0" bIns="0" rtlCol="0" anchor="t"/>
          <a:lstStyle>
            <a:lvl1pPr marL="0" indent="0" algn="l">
              <a:lnSpc>
                <a:spcPct val="115000"/>
              </a:lnSpc>
              <a:buNone/>
              <a:defRPr lang="en-US" sz="3600" dirty="0">
                <a:solidFill>
                  <a:srgbClr val="16233B"/>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86211"/>
            <a:ext cx="10566400" cy="4058989"/>
          </a:xfrm>
          <a:prstGeom prst="rect">
            <a:avLst/>
          </a:prstGeom>
          <a:noFill/>
          <a:ln/>
        </p:spPr>
        <p:txBody>
          <a:bodyPr wrap="square" lIns="0" tIns="0" rIns="0" bIns="0" rtlCol="0" anchor="t"/>
          <a:lstStyle>
            <a:lvl1pPr marL="0" indent="0" algn="l">
              <a:lnSpc>
                <a:spcPct val="140000"/>
              </a:lnSpc>
              <a:buNone/>
              <a:defRPr lang="en-US" sz="1600" dirty="0">
                <a:solidFill>
                  <a:srgbClr val="16233B"/>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6461F"/>
                </a:solidFill>
                <a:latin typeface="Times New Roman" panose="02020603050405020304" pitchFamily="18" charset="0"/>
                <a:ea typeface="IBM Plex Sans" pitchFamily="34" charset="-122"/>
                <a:cs typeface="Times New Roman" panose="02020603050405020304" pitchFamily="18" charset="0"/>
              </a:rPr>
              <a:t>What I Built</a:t>
            </a:r>
            <a:endParaRPr lang="en-US" sz="1200" dirty="0">
              <a:latin typeface="Times New Roman" panose="02020603050405020304" pitchFamily="18" charset="0"/>
              <a:cs typeface="Times New Roman" panose="02020603050405020304" pitchFamily="18" charset="0"/>
            </a:endParaRPr>
          </a:p>
        </p:txBody>
      </p:sp>
      <p:sp>
        <p:nvSpPr>
          <p:cNvPr id="3" name="Text 1"/>
          <p:cNvSpPr>
            <a:spLocks noGrp="1"/>
          </p:cNvSpPr>
          <p:nvPr>
            <p:ph type="title"/>
          </p:nvPr>
        </p:nvSpPr>
        <p:spPr>
          <a:xfrm>
            <a:off x="812800" y="12293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6233B"/>
                </a:solidFill>
                <a:latin typeface="Times New Roman" panose="02020603050405020304" pitchFamily="18" charset="0"/>
                <a:ea typeface="Source Serif 4" pitchFamily="18" charset="-122"/>
                <a:cs typeface="Times New Roman" panose="02020603050405020304" pitchFamily="18" charset="0"/>
              </a:rPr>
              <a:t>Turning a document into a row</a:t>
            </a:r>
            <a:endParaRPr lang="en-US" sz="3600" dirty="0">
              <a:latin typeface="Times New Roman" panose="02020603050405020304" pitchFamily="18" charset="0"/>
              <a:cs typeface="Times New Roman" panose="02020603050405020304" pitchFamily="18" charset="0"/>
            </a:endParaRPr>
          </a:p>
        </p:txBody>
      </p:sp>
      <p:sp>
        <p:nvSpPr>
          <p:cNvPr id="24" name="Step card 1"/>
          <p:cNvSpPr/>
          <p:nvPr/>
        </p:nvSpPr>
        <p:spPr>
          <a:xfrm>
            <a:off x="813816" y="2331720"/>
            <a:ext cx="1517904" cy="2514600"/>
          </a:xfrm>
          <a:prstGeom prst="roundRect">
            <a:avLst>
              <a:gd name="adj" fmla="val 4000"/>
            </a:avLst>
          </a:prstGeom>
          <a:solidFill>
            <a:srgbClr val="FCFBF8"/>
          </a:solidFill>
          <a:ln w="6350">
            <a:solidFill>
              <a:srgbClr val="DDD8CC"/>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5" name="TextBox 24"/>
          <p:cNvSpPr txBox="1"/>
          <p:nvPr/>
        </p:nvSpPr>
        <p:spPr>
          <a:xfrm>
            <a:off x="960120" y="2496312"/>
            <a:ext cx="1225295" cy="348622"/>
          </a:xfrm>
          <a:prstGeom prst="rect">
            <a:avLst/>
          </a:prstGeom>
          <a:noFill/>
        </p:spPr>
        <p:txBody>
          <a:bodyPr wrap="square" lIns="0" tIns="0" rIns="0" bIns="0" anchor="t">
            <a:spAutoFit/>
          </a:bodyPr>
          <a:lstStyle/>
          <a:p>
            <a:pPr>
              <a:lnSpc>
                <a:spcPct val="125000"/>
              </a:lnSpc>
              <a:buNone/>
            </a:pPr>
            <a:r>
              <a:rPr sz="2000" b="0" i="0">
                <a:solidFill>
                  <a:srgbClr val="A6461F"/>
                </a:solidFill>
                <a:latin typeface="Times New Roman" panose="02020603050405020304" pitchFamily="18" charset="0"/>
                <a:ea typeface="Source Serif 4"/>
                <a:cs typeface="Times New Roman" panose="02020603050405020304" pitchFamily="18" charset="0"/>
              </a:rPr>
              <a:t>01</a:t>
            </a:r>
          </a:p>
        </p:txBody>
      </p:sp>
      <p:sp>
        <p:nvSpPr>
          <p:cNvPr id="26" name="TextBox 25"/>
          <p:cNvSpPr txBox="1"/>
          <p:nvPr/>
        </p:nvSpPr>
        <p:spPr>
          <a:xfrm>
            <a:off x="960120" y="2898648"/>
            <a:ext cx="1225295" cy="244106"/>
          </a:xfrm>
          <a:prstGeom prst="rect">
            <a:avLst/>
          </a:prstGeom>
          <a:noFill/>
        </p:spPr>
        <p:txBody>
          <a:bodyPr wrap="square" lIns="0" tIns="0" rIns="0" bIns="0" anchor="t">
            <a:spAutoFit/>
          </a:bodyPr>
          <a:lstStyle/>
          <a:p>
            <a:pPr>
              <a:lnSpc>
                <a:spcPct val="125000"/>
              </a:lnSpc>
              <a:buNone/>
            </a:pPr>
            <a:r>
              <a:rPr sz="1400" b="1" i="0">
                <a:solidFill>
                  <a:srgbClr val="16233B"/>
                </a:solidFill>
                <a:latin typeface="Times New Roman" panose="02020603050405020304" pitchFamily="18" charset="0"/>
                <a:ea typeface="IBM Plex Sans"/>
                <a:cs typeface="Times New Roman" panose="02020603050405020304" pitchFamily="18" charset="0"/>
              </a:rPr>
              <a:t>Inventory</a:t>
            </a:r>
          </a:p>
        </p:txBody>
      </p:sp>
      <p:sp>
        <p:nvSpPr>
          <p:cNvPr id="27" name="TextBox 26"/>
          <p:cNvSpPr txBox="1"/>
          <p:nvPr/>
        </p:nvSpPr>
        <p:spPr>
          <a:xfrm>
            <a:off x="960120" y="3246120"/>
            <a:ext cx="1225295" cy="1255665"/>
          </a:xfrm>
          <a:prstGeom prst="rect">
            <a:avLst/>
          </a:prstGeom>
          <a:noFill/>
        </p:spPr>
        <p:txBody>
          <a:bodyPr wrap="square" lIns="0" tIns="0" rIns="0" bIns="0" anchor="t">
            <a:spAutoFit/>
          </a:bodyPr>
          <a:lstStyle/>
          <a:p>
            <a:pPr>
              <a:lnSpc>
                <a:spcPct val="120000"/>
              </a:lnSpc>
              <a:buNone/>
            </a:pPr>
            <a:r>
              <a:rPr sz="1150" b="0" i="0" dirty="0">
                <a:solidFill>
                  <a:srgbClr val="4A5363"/>
                </a:solidFill>
                <a:latin typeface="Times New Roman" panose="02020603050405020304" pitchFamily="18" charset="0"/>
                <a:ea typeface="IBM Plex Sans"/>
                <a:cs typeface="Times New Roman" panose="02020603050405020304" pitchFamily="18" charset="0"/>
              </a:rPr>
              <a:t>Profile all 389 PDFs: text or scan, encryption, duplicates, contract families</a:t>
            </a:r>
            <a:r>
              <a:rPr lang="en-US" sz="1150" b="0" i="0" dirty="0">
                <a:solidFill>
                  <a:srgbClr val="4A5363"/>
                </a:solidFill>
                <a:latin typeface="Times New Roman" panose="02020603050405020304" pitchFamily="18" charset="0"/>
                <a:ea typeface="IBM Plex Sans"/>
                <a:cs typeface="Times New Roman" panose="02020603050405020304" pitchFamily="18" charset="0"/>
              </a:rPr>
              <a:t> (</a:t>
            </a:r>
            <a:r>
              <a:rPr lang="en-US" sz="1150" b="0" i="0" dirty="0" err="1">
                <a:solidFill>
                  <a:srgbClr val="4A5363"/>
                </a:solidFill>
                <a:latin typeface="Times New Roman" panose="02020603050405020304" pitchFamily="18" charset="0"/>
                <a:ea typeface="IBM Plex Sans"/>
                <a:cs typeface="Times New Roman" panose="02020603050405020304" pitchFamily="18" charset="0"/>
              </a:rPr>
              <a:t>eg</a:t>
            </a:r>
            <a:r>
              <a:rPr lang="en-US" sz="1150" b="0" i="0" dirty="0">
                <a:solidFill>
                  <a:srgbClr val="4A5363"/>
                </a:solidFill>
                <a:latin typeface="Times New Roman" panose="02020603050405020304" pitchFamily="18" charset="0"/>
                <a:ea typeface="IBM Plex Sans"/>
                <a:cs typeface="Times New Roman" panose="02020603050405020304" pitchFamily="18" charset="0"/>
              </a:rPr>
              <a:t> lease, sow, </a:t>
            </a:r>
            <a:r>
              <a:rPr lang="en-US" sz="1150" b="0" i="0" dirty="0" err="1">
                <a:solidFill>
                  <a:srgbClr val="4A5363"/>
                </a:solidFill>
                <a:latin typeface="Times New Roman" panose="02020603050405020304" pitchFamily="18" charset="0"/>
                <a:ea typeface="IBM Plex Sans"/>
                <a:cs typeface="Times New Roman" panose="02020603050405020304" pitchFamily="18" charset="0"/>
              </a:rPr>
              <a:t>etc</a:t>
            </a:r>
            <a:r>
              <a:rPr lang="en-US" sz="1150" b="0" i="0" dirty="0">
                <a:solidFill>
                  <a:srgbClr val="4A5363"/>
                </a:solidFill>
                <a:latin typeface="Times New Roman" panose="02020603050405020304" pitchFamily="18" charset="0"/>
                <a:ea typeface="IBM Plex Sans"/>
                <a:cs typeface="Times New Roman" panose="02020603050405020304" pitchFamily="18" charset="0"/>
              </a:rPr>
              <a:t>)</a:t>
            </a:r>
            <a:endParaRPr sz="1150" b="0" i="0" dirty="0">
              <a:solidFill>
                <a:srgbClr val="4A5363"/>
              </a:solidFill>
              <a:latin typeface="Times New Roman" panose="02020603050405020304" pitchFamily="18" charset="0"/>
              <a:ea typeface="IBM Plex Sans"/>
              <a:cs typeface="Times New Roman" panose="02020603050405020304" pitchFamily="18" charset="0"/>
            </a:endParaRPr>
          </a:p>
        </p:txBody>
      </p:sp>
      <p:cxnSp>
        <p:nvCxnSpPr>
          <p:cNvPr id="28" name="Connector 27"/>
          <p:cNvCxnSpPr/>
          <p:nvPr/>
        </p:nvCxnSpPr>
        <p:spPr>
          <a:xfrm>
            <a:off x="2377439" y="3589020"/>
            <a:ext cx="201169" cy="0"/>
          </a:xfrm>
          <a:prstGeom prst="line">
            <a:avLst/>
          </a:prstGeom>
          <a:ln w="15875">
            <a:solidFill>
              <a:srgbClr val="A6461F"/>
            </a:solidFill>
            <a:tailEnd type="triangle" w="med" len="med"/>
          </a:ln>
        </p:spPr>
      </p:cxnSp>
      <p:sp>
        <p:nvSpPr>
          <p:cNvPr id="29" name="Step card 2"/>
          <p:cNvSpPr/>
          <p:nvPr/>
        </p:nvSpPr>
        <p:spPr>
          <a:xfrm>
            <a:off x="2624328" y="2331720"/>
            <a:ext cx="1517904" cy="2514600"/>
          </a:xfrm>
          <a:prstGeom prst="roundRect">
            <a:avLst>
              <a:gd name="adj" fmla="val 4000"/>
            </a:avLst>
          </a:prstGeom>
          <a:solidFill>
            <a:srgbClr val="FCFBF8"/>
          </a:solidFill>
          <a:ln w="6350">
            <a:solidFill>
              <a:srgbClr val="DDD8CC"/>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0" name="TextBox 29"/>
          <p:cNvSpPr txBox="1"/>
          <p:nvPr/>
        </p:nvSpPr>
        <p:spPr>
          <a:xfrm>
            <a:off x="2770632" y="2496312"/>
            <a:ext cx="1225295" cy="348622"/>
          </a:xfrm>
          <a:prstGeom prst="rect">
            <a:avLst/>
          </a:prstGeom>
          <a:noFill/>
        </p:spPr>
        <p:txBody>
          <a:bodyPr wrap="square" lIns="0" tIns="0" rIns="0" bIns="0" anchor="t">
            <a:spAutoFit/>
          </a:bodyPr>
          <a:lstStyle/>
          <a:p>
            <a:pPr>
              <a:lnSpc>
                <a:spcPct val="125000"/>
              </a:lnSpc>
              <a:buNone/>
            </a:pPr>
            <a:r>
              <a:rPr sz="2000" b="0" i="0">
                <a:solidFill>
                  <a:srgbClr val="A6461F"/>
                </a:solidFill>
                <a:latin typeface="Times New Roman" panose="02020603050405020304" pitchFamily="18" charset="0"/>
                <a:ea typeface="Source Serif 4"/>
                <a:cs typeface="Times New Roman" panose="02020603050405020304" pitchFamily="18" charset="0"/>
              </a:rPr>
              <a:t>02</a:t>
            </a:r>
          </a:p>
        </p:txBody>
      </p:sp>
      <p:sp>
        <p:nvSpPr>
          <p:cNvPr id="31" name="TextBox 30"/>
          <p:cNvSpPr txBox="1"/>
          <p:nvPr/>
        </p:nvSpPr>
        <p:spPr>
          <a:xfrm>
            <a:off x="2770632" y="2898648"/>
            <a:ext cx="1225295" cy="244106"/>
          </a:xfrm>
          <a:prstGeom prst="rect">
            <a:avLst/>
          </a:prstGeom>
          <a:noFill/>
        </p:spPr>
        <p:txBody>
          <a:bodyPr wrap="square" lIns="0" tIns="0" rIns="0" bIns="0" anchor="t">
            <a:spAutoFit/>
          </a:bodyPr>
          <a:lstStyle/>
          <a:p>
            <a:pPr>
              <a:lnSpc>
                <a:spcPct val="125000"/>
              </a:lnSpc>
              <a:buNone/>
            </a:pPr>
            <a:r>
              <a:rPr sz="1400" b="1" i="0">
                <a:solidFill>
                  <a:srgbClr val="16233B"/>
                </a:solidFill>
                <a:latin typeface="Times New Roman" panose="02020603050405020304" pitchFamily="18" charset="0"/>
                <a:ea typeface="IBM Plex Sans"/>
                <a:cs typeface="Times New Roman" panose="02020603050405020304" pitchFamily="18" charset="0"/>
              </a:rPr>
              <a:t>Parse</a:t>
            </a:r>
          </a:p>
        </p:txBody>
      </p:sp>
      <p:sp>
        <p:nvSpPr>
          <p:cNvPr id="32" name="TextBox 31"/>
          <p:cNvSpPr txBox="1"/>
          <p:nvPr/>
        </p:nvSpPr>
        <p:spPr>
          <a:xfrm>
            <a:off x="2770632" y="3246120"/>
            <a:ext cx="1225295" cy="830933"/>
          </a:xfrm>
          <a:prstGeom prst="rect">
            <a:avLst/>
          </a:prstGeom>
          <a:noFill/>
        </p:spPr>
        <p:txBody>
          <a:bodyPr wrap="square" lIns="0" tIns="0" rIns="0" bIns="0" anchor="t">
            <a:spAutoFit/>
          </a:bodyPr>
          <a:lstStyle/>
          <a:p>
            <a:pPr>
              <a:lnSpc>
                <a:spcPct val="120000"/>
              </a:lnSpc>
              <a:buNone/>
            </a:pPr>
            <a:r>
              <a:rPr sz="1150" b="0" i="0" dirty="0">
                <a:solidFill>
                  <a:srgbClr val="4A5363"/>
                </a:solidFill>
                <a:latin typeface="Times New Roman" panose="02020603050405020304" pitchFamily="18" charset="0"/>
                <a:ea typeface="IBM Plex Sans"/>
                <a:cs typeface="Times New Roman" panose="02020603050405020304" pitchFamily="18" charset="0"/>
              </a:rPr>
              <a:t>Read the text layer first. Tesseract OCR on pages with little or garbled text</a:t>
            </a:r>
          </a:p>
        </p:txBody>
      </p:sp>
      <p:cxnSp>
        <p:nvCxnSpPr>
          <p:cNvPr id="33" name="Connector 32"/>
          <p:cNvCxnSpPr/>
          <p:nvPr/>
        </p:nvCxnSpPr>
        <p:spPr>
          <a:xfrm>
            <a:off x="4187952" y="3589020"/>
            <a:ext cx="201168" cy="0"/>
          </a:xfrm>
          <a:prstGeom prst="line">
            <a:avLst/>
          </a:prstGeom>
          <a:ln w="15875">
            <a:solidFill>
              <a:srgbClr val="A6461F"/>
            </a:solidFill>
            <a:tailEnd type="triangle" w="med" len="med"/>
          </a:ln>
        </p:spPr>
      </p:cxnSp>
      <p:sp>
        <p:nvSpPr>
          <p:cNvPr id="34" name="Step card 3"/>
          <p:cNvSpPr/>
          <p:nvPr/>
        </p:nvSpPr>
        <p:spPr>
          <a:xfrm>
            <a:off x="4434840" y="2331720"/>
            <a:ext cx="1517904" cy="2514600"/>
          </a:xfrm>
          <a:prstGeom prst="roundRect">
            <a:avLst>
              <a:gd name="adj" fmla="val 4000"/>
            </a:avLst>
          </a:prstGeom>
          <a:solidFill>
            <a:srgbClr val="FCFBF8"/>
          </a:solidFill>
          <a:ln w="6350">
            <a:solidFill>
              <a:srgbClr val="DDD8CC"/>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5" name="TextBox 34"/>
          <p:cNvSpPr txBox="1"/>
          <p:nvPr/>
        </p:nvSpPr>
        <p:spPr>
          <a:xfrm>
            <a:off x="4581144" y="2496312"/>
            <a:ext cx="1225295" cy="348622"/>
          </a:xfrm>
          <a:prstGeom prst="rect">
            <a:avLst/>
          </a:prstGeom>
          <a:noFill/>
        </p:spPr>
        <p:txBody>
          <a:bodyPr wrap="square" lIns="0" tIns="0" rIns="0" bIns="0" anchor="t">
            <a:spAutoFit/>
          </a:bodyPr>
          <a:lstStyle/>
          <a:p>
            <a:pPr>
              <a:lnSpc>
                <a:spcPct val="125000"/>
              </a:lnSpc>
              <a:buNone/>
            </a:pPr>
            <a:r>
              <a:rPr sz="2000" b="0" i="0">
                <a:solidFill>
                  <a:srgbClr val="A6461F"/>
                </a:solidFill>
                <a:latin typeface="Times New Roman" panose="02020603050405020304" pitchFamily="18" charset="0"/>
                <a:ea typeface="Source Serif 4"/>
                <a:cs typeface="Times New Roman" panose="02020603050405020304" pitchFamily="18" charset="0"/>
              </a:rPr>
              <a:t>03</a:t>
            </a:r>
          </a:p>
        </p:txBody>
      </p:sp>
      <p:sp>
        <p:nvSpPr>
          <p:cNvPr id="36" name="TextBox 35"/>
          <p:cNvSpPr txBox="1"/>
          <p:nvPr/>
        </p:nvSpPr>
        <p:spPr>
          <a:xfrm>
            <a:off x="4581144" y="2898648"/>
            <a:ext cx="1225295" cy="244106"/>
          </a:xfrm>
          <a:prstGeom prst="rect">
            <a:avLst/>
          </a:prstGeom>
          <a:noFill/>
        </p:spPr>
        <p:txBody>
          <a:bodyPr wrap="square" lIns="0" tIns="0" rIns="0" bIns="0" anchor="t">
            <a:spAutoFit/>
          </a:bodyPr>
          <a:lstStyle/>
          <a:p>
            <a:pPr>
              <a:lnSpc>
                <a:spcPct val="125000"/>
              </a:lnSpc>
              <a:buNone/>
            </a:pPr>
            <a:r>
              <a:rPr sz="1400" b="1" i="0">
                <a:solidFill>
                  <a:srgbClr val="16233B"/>
                </a:solidFill>
                <a:latin typeface="Times New Roman" panose="02020603050405020304" pitchFamily="18" charset="0"/>
                <a:ea typeface="IBM Plex Sans"/>
                <a:cs typeface="Times New Roman" panose="02020603050405020304" pitchFamily="18" charset="0"/>
              </a:rPr>
              <a:t>Chunk</a:t>
            </a:r>
          </a:p>
        </p:txBody>
      </p:sp>
      <p:sp>
        <p:nvSpPr>
          <p:cNvPr id="37" name="TextBox 36"/>
          <p:cNvSpPr txBox="1"/>
          <p:nvPr/>
        </p:nvSpPr>
        <p:spPr>
          <a:xfrm>
            <a:off x="4581144" y="3246120"/>
            <a:ext cx="1225295" cy="830933"/>
          </a:xfrm>
          <a:prstGeom prst="rect">
            <a:avLst/>
          </a:prstGeom>
          <a:noFill/>
        </p:spPr>
        <p:txBody>
          <a:bodyPr wrap="square" lIns="0" tIns="0" rIns="0" bIns="0" anchor="t">
            <a:spAutoFit/>
          </a:bodyPr>
          <a:lstStyle/>
          <a:p>
            <a:pPr>
              <a:lnSpc>
                <a:spcPct val="120000"/>
              </a:lnSpc>
              <a:buNone/>
            </a:pPr>
            <a:r>
              <a:rPr sz="1150" b="0" i="0" dirty="0">
                <a:solidFill>
                  <a:srgbClr val="4A5363"/>
                </a:solidFill>
                <a:latin typeface="Times New Roman" panose="02020603050405020304" pitchFamily="18" charset="0"/>
                <a:ea typeface="IBM Plex Sans"/>
                <a:cs typeface="Times New Roman" panose="02020603050405020304" pitchFamily="18" charset="0"/>
              </a:rPr>
              <a:t>Split into page-bounded, heading-aware passages of up to 230 tokens</a:t>
            </a:r>
          </a:p>
        </p:txBody>
      </p:sp>
      <p:cxnSp>
        <p:nvCxnSpPr>
          <p:cNvPr id="38" name="Connector 37"/>
          <p:cNvCxnSpPr/>
          <p:nvPr/>
        </p:nvCxnSpPr>
        <p:spPr>
          <a:xfrm>
            <a:off x="5998464" y="3589020"/>
            <a:ext cx="201168" cy="0"/>
          </a:xfrm>
          <a:prstGeom prst="line">
            <a:avLst/>
          </a:prstGeom>
          <a:ln w="15875">
            <a:solidFill>
              <a:srgbClr val="A6461F"/>
            </a:solidFill>
            <a:tailEnd type="triangle" w="med" len="med"/>
          </a:ln>
        </p:spPr>
      </p:cxnSp>
      <p:sp>
        <p:nvSpPr>
          <p:cNvPr id="39" name="Step card 4"/>
          <p:cNvSpPr/>
          <p:nvPr/>
        </p:nvSpPr>
        <p:spPr>
          <a:xfrm>
            <a:off x="6245351" y="2331720"/>
            <a:ext cx="1517904" cy="2514600"/>
          </a:xfrm>
          <a:prstGeom prst="roundRect">
            <a:avLst>
              <a:gd name="adj" fmla="val 4000"/>
            </a:avLst>
          </a:prstGeom>
          <a:solidFill>
            <a:srgbClr val="FCFBF8"/>
          </a:solidFill>
          <a:ln w="6350">
            <a:solidFill>
              <a:srgbClr val="DDD8CC"/>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0" name="TextBox 39"/>
          <p:cNvSpPr txBox="1"/>
          <p:nvPr/>
        </p:nvSpPr>
        <p:spPr>
          <a:xfrm>
            <a:off x="6391655" y="2496312"/>
            <a:ext cx="1225295" cy="348622"/>
          </a:xfrm>
          <a:prstGeom prst="rect">
            <a:avLst/>
          </a:prstGeom>
          <a:noFill/>
        </p:spPr>
        <p:txBody>
          <a:bodyPr wrap="square" lIns="0" tIns="0" rIns="0" bIns="0" anchor="t">
            <a:spAutoFit/>
          </a:bodyPr>
          <a:lstStyle/>
          <a:p>
            <a:pPr>
              <a:lnSpc>
                <a:spcPct val="125000"/>
              </a:lnSpc>
              <a:buNone/>
            </a:pPr>
            <a:r>
              <a:rPr sz="2000" b="0" i="0">
                <a:solidFill>
                  <a:srgbClr val="A6461F"/>
                </a:solidFill>
                <a:latin typeface="Times New Roman" panose="02020603050405020304" pitchFamily="18" charset="0"/>
                <a:ea typeface="Source Serif 4"/>
                <a:cs typeface="Times New Roman" panose="02020603050405020304" pitchFamily="18" charset="0"/>
              </a:rPr>
              <a:t>04</a:t>
            </a:r>
          </a:p>
        </p:txBody>
      </p:sp>
      <p:sp>
        <p:nvSpPr>
          <p:cNvPr id="41" name="TextBox 40"/>
          <p:cNvSpPr txBox="1"/>
          <p:nvPr/>
        </p:nvSpPr>
        <p:spPr>
          <a:xfrm>
            <a:off x="6391655" y="2898648"/>
            <a:ext cx="1225295" cy="244106"/>
          </a:xfrm>
          <a:prstGeom prst="rect">
            <a:avLst/>
          </a:prstGeom>
          <a:noFill/>
        </p:spPr>
        <p:txBody>
          <a:bodyPr wrap="square" lIns="0" tIns="0" rIns="0" bIns="0" anchor="t">
            <a:spAutoFit/>
          </a:bodyPr>
          <a:lstStyle/>
          <a:p>
            <a:pPr>
              <a:lnSpc>
                <a:spcPct val="125000"/>
              </a:lnSpc>
              <a:buNone/>
            </a:pPr>
            <a:r>
              <a:rPr sz="1400" b="1" i="0">
                <a:solidFill>
                  <a:srgbClr val="16233B"/>
                </a:solidFill>
                <a:latin typeface="Times New Roman" panose="02020603050405020304" pitchFamily="18" charset="0"/>
                <a:ea typeface="IBM Plex Sans"/>
                <a:cs typeface="Times New Roman" panose="02020603050405020304" pitchFamily="18" charset="0"/>
              </a:rPr>
              <a:t>Extract</a:t>
            </a:r>
          </a:p>
        </p:txBody>
      </p:sp>
      <p:sp>
        <p:nvSpPr>
          <p:cNvPr id="42" name="TextBox 41"/>
          <p:cNvSpPr txBox="1"/>
          <p:nvPr/>
        </p:nvSpPr>
        <p:spPr>
          <a:xfrm>
            <a:off x="6391655" y="3246120"/>
            <a:ext cx="1225295" cy="830933"/>
          </a:xfrm>
          <a:prstGeom prst="rect">
            <a:avLst/>
          </a:prstGeom>
          <a:noFill/>
        </p:spPr>
        <p:txBody>
          <a:bodyPr wrap="square" lIns="0" tIns="0" rIns="0" bIns="0" anchor="t">
            <a:spAutoFit/>
          </a:bodyPr>
          <a:lstStyle/>
          <a:p>
            <a:pPr>
              <a:lnSpc>
                <a:spcPct val="120000"/>
              </a:lnSpc>
              <a:buNone/>
            </a:pPr>
            <a:r>
              <a:rPr sz="1150" b="0" i="0" dirty="0">
                <a:solidFill>
                  <a:srgbClr val="4A5363"/>
                </a:solidFill>
                <a:latin typeface="Times New Roman" panose="02020603050405020304" pitchFamily="18" charset="0"/>
                <a:ea typeface="IBM Plex Sans"/>
                <a:cs typeface="Times New Roman" panose="02020603050405020304" pitchFamily="18" charset="0"/>
              </a:rPr>
              <a:t>One gpt-5-mini call per document: value, verbatim quote, page</a:t>
            </a:r>
            <a:r>
              <a:rPr lang="en-US" sz="1150" b="0" i="0" dirty="0">
                <a:solidFill>
                  <a:srgbClr val="4A5363"/>
                </a:solidFill>
                <a:latin typeface="Times New Roman" panose="02020603050405020304" pitchFamily="18" charset="0"/>
                <a:ea typeface="IBM Plex Sans"/>
                <a:cs typeface="Times New Roman" panose="02020603050405020304" pitchFamily="18" charset="0"/>
              </a:rPr>
              <a:t> #</a:t>
            </a:r>
            <a:endParaRPr sz="1150" b="0" i="0" dirty="0">
              <a:solidFill>
                <a:srgbClr val="4A5363"/>
              </a:solidFill>
              <a:latin typeface="Times New Roman" panose="02020603050405020304" pitchFamily="18" charset="0"/>
              <a:ea typeface="IBM Plex Sans"/>
              <a:cs typeface="Times New Roman" panose="02020603050405020304" pitchFamily="18" charset="0"/>
            </a:endParaRPr>
          </a:p>
        </p:txBody>
      </p:sp>
      <p:cxnSp>
        <p:nvCxnSpPr>
          <p:cNvPr id="43" name="Connector 42"/>
          <p:cNvCxnSpPr/>
          <p:nvPr/>
        </p:nvCxnSpPr>
        <p:spPr>
          <a:xfrm>
            <a:off x="7808975" y="3589020"/>
            <a:ext cx="201168" cy="0"/>
          </a:xfrm>
          <a:prstGeom prst="line">
            <a:avLst/>
          </a:prstGeom>
          <a:ln w="15875">
            <a:solidFill>
              <a:srgbClr val="A6461F"/>
            </a:solidFill>
            <a:tailEnd type="triangle" w="med" len="med"/>
          </a:ln>
        </p:spPr>
      </p:cxnSp>
      <p:sp>
        <p:nvSpPr>
          <p:cNvPr id="44" name="Step card 5"/>
          <p:cNvSpPr/>
          <p:nvPr/>
        </p:nvSpPr>
        <p:spPr>
          <a:xfrm>
            <a:off x="8055864" y="2331720"/>
            <a:ext cx="1517904" cy="2514600"/>
          </a:xfrm>
          <a:prstGeom prst="roundRect">
            <a:avLst>
              <a:gd name="adj" fmla="val 4000"/>
            </a:avLst>
          </a:prstGeom>
          <a:solidFill>
            <a:srgbClr val="FCFBF8"/>
          </a:solidFill>
          <a:ln w="6350">
            <a:solidFill>
              <a:srgbClr val="DDD8CC"/>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5" name="TextBox 44"/>
          <p:cNvSpPr txBox="1"/>
          <p:nvPr/>
        </p:nvSpPr>
        <p:spPr>
          <a:xfrm>
            <a:off x="8202168" y="2496312"/>
            <a:ext cx="1225295" cy="348622"/>
          </a:xfrm>
          <a:prstGeom prst="rect">
            <a:avLst/>
          </a:prstGeom>
          <a:noFill/>
        </p:spPr>
        <p:txBody>
          <a:bodyPr wrap="square" lIns="0" tIns="0" rIns="0" bIns="0" anchor="t">
            <a:spAutoFit/>
          </a:bodyPr>
          <a:lstStyle/>
          <a:p>
            <a:pPr>
              <a:lnSpc>
                <a:spcPct val="125000"/>
              </a:lnSpc>
              <a:buNone/>
            </a:pPr>
            <a:r>
              <a:rPr sz="2000" b="0" i="0">
                <a:solidFill>
                  <a:srgbClr val="A6461F"/>
                </a:solidFill>
                <a:latin typeface="Times New Roman" panose="02020603050405020304" pitchFamily="18" charset="0"/>
                <a:ea typeface="Source Serif 4"/>
                <a:cs typeface="Times New Roman" panose="02020603050405020304" pitchFamily="18" charset="0"/>
              </a:rPr>
              <a:t>05</a:t>
            </a:r>
          </a:p>
        </p:txBody>
      </p:sp>
      <p:sp>
        <p:nvSpPr>
          <p:cNvPr id="46" name="TextBox 45"/>
          <p:cNvSpPr txBox="1"/>
          <p:nvPr/>
        </p:nvSpPr>
        <p:spPr>
          <a:xfrm>
            <a:off x="8202168" y="2898648"/>
            <a:ext cx="1225295" cy="244106"/>
          </a:xfrm>
          <a:prstGeom prst="rect">
            <a:avLst/>
          </a:prstGeom>
          <a:noFill/>
        </p:spPr>
        <p:txBody>
          <a:bodyPr wrap="square" lIns="0" tIns="0" rIns="0" bIns="0" anchor="t">
            <a:spAutoFit/>
          </a:bodyPr>
          <a:lstStyle/>
          <a:p>
            <a:pPr>
              <a:lnSpc>
                <a:spcPct val="125000"/>
              </a:lnSpc>
              <a:buNone/>
            </a:pPr>
            <a:r>
              <a:rPr sz="1400" b="1" i="0">
                <a:solidFill>
                  <a:srgbClr val="16233B"/>
                </a:solidFill>
                <a:latin typeface="Times New Roman" panose="02020603050405020304" pitchFamily="18" charset="0"/>
                <a:ea typeface="IBM Plex Sans"/>
                <a:cs typeface="Times New Roman" panose="02020603050405020304" pitchFamily="18" charset="0"/>
              </a:rPr>
              <a:t>Verify</a:t>
            </a:r>
          </a:p>
        </p:txBody>
      </p:sp>
      <p:sp>
        <p:nvSpPr>
          <p:cNvPr id="47" name="TextBox 46"/>
          <p:cNvSpPr txBox="1"/>
          <p:nvPr/>
        </p:nvSpPr>
        <p:spPr>
          <a:xfrm>
            <a:off x="8202168" y="3246120"/>
            <a:ext cx="1225295" cy="621452"/>
          </a:xfrm>
          <a:prstGeom prst="rect">
            <a:avLst/>
          </a:prstGeom>
          <a:noFill/>
        </p:spPr>
        <p:txBody>
          <a:bodyPr wrap="square" lIns="0" tIns="0" rIns="0" bIns="0" anchor="t">
            <a:spAutoFit/>
          </a:bodyPr>
          <a:lstStyle/>
          <a:p>
            <a:pPr>
              <a:lnSpc>
                <a:spcPct val="120000"/>
              </a:lnSpc>
              <a:buNone/>
            </a:pPr>
            <a:r>
              <a:rPr sz="1150" b="0" i="0" dirty="0">
                <a:solidFill>
                  <a:srgbClr val="4A5363"/>
                </a:solidFill>
                <a:latin typeface="Times New Roman" panose="02020603050405020304" pitchFamily="18" charset="0"/>
                <a:ea typeface="IBM Plex Sans"/>
                <a:cs typeface="Times New Roman" panose="02020603050405020304" pitchFamily="18" charset="0"/>
              </a:rPr>
              <a:t>Code checks each quote against its page</a:t>
            </a:r>
          </a:p>
        </p:txBody>
      </p:sp>
      <p:cxnSp>
        <p:nvCxnSpPr>
          <p:cNvPr id="48" name="Connector 47"/>
          <p:cNvCxnSpPr/>
          <p:nvPr/>
        </p:nvCxnSpPr>
        <p:spPr>
          <a:xfrm>
            <a:off x="9619488" y="3589020"/>
            <a:ext cx="201168" cy="0"/>
          </a:xfrm>
          <a:prstGeom prst="line">
            <a:avLst/>
          </a:prstGeom>
          <a:ln w="15875">
            <a:solidFill>
              <a:srgbClr val="A6461F"/>
            </a:solidFill>
            <a:tailEnd type="triangle" w="med" len="med"/>
          </a:ln>
        </p:spPr>
      </p:cxnSp>
      <p:sp>
        <p:nvSpPr>
          <p:cNvPr id="49" name="Step card 6"/>
          <p:cNvSpPr/>
          <p:nvPr/>
        </p:nvSpPr>
        <p:spPr>
          <a:xfrm>
            <a:off x="9866376" y="2331720"/>
            <a:ext cx="1517904" cy="2514600"/>
          </a:xfrm>
          <a:prstGeom prst="roundRect">
            <a:avLst>
              <a:gd name="adj" fmla="val 4000"/>
            </a:avLst>
          </a:prstGeom>
          <a:solidFill>
            <a:srgbClr val="FCFBF8"/>
          </a:solidFill>
          <a:ln w="6350">
            <a:solidFill>
              <a:srgbClr val="DDD8CC"/>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0" name="TextBox 49"/>
          <p:cNvSpPr txBox="1"/>
          <p:nvPr/>
        </p:nvSpPr>
        <p:spPr>
          <a:xfrm>
            <a:off x="10012680" y="2496312"/>
            <a:ext cx="1225295" cy="348622"/>
          </a:xfrm>
          <a:prstGeom prst="rect">
            <a:avLst/>
          </a:prstGeom>
          <a:noFill/>
        </p:spPr>
        <p:txBody>
          <a:bodyPr wrap="square" lIns="0" tIns="0" rIns="0" bIns="0" anchor="t">
            <a:spAutoFit/>
          </a:bodyPr>
          <a:lstStyle/>
          <a:p>
            <a:pPr>
              <a:lnSpc>
                <a:spcPct val="125000"/>
              </a:lnSpc>
              <a:buNone/>
            </a:pPr>
            <a:r>
              <a:rPr sz="2000" b="0" i="0">
                <a:solidFill>
                  <a:srgbClr val="A6461F"/>
                </a:solidFill>
                <a:latin typeface="Times New Roman" panose="02020603050405020304" pitchFamily="18" charset="0"/>
                <a:ea typeface="Source Serif 4"/>
                <a:cs typeface="Times New Roman" panose="02020603050405020304" pitchFamily="18" charset="0"/>
              </a:rPr>
              <a:t>06</a:t>
            </a:r>
          </a:p>
        </p:txBody>
      </p:sp>
      <p:sp>
        <p:nvSpPr>
          <p:cNvPr id="51" name="TextBox 50"/>
          <p:cNvSpPr txBox="1"/>
          <p:nvPr/>
        </p:nvSpPr>
        <p:spPr>
          <a:xfrm>
            <a:off x="10012680" y="2898648"/>
            <a:ext cx="1225295" cy="244106"/>
          </a:xfrm>
          <a:prstGeom prst="rect">
            <a:avLst/>
          </a:prstGeom>
          <a:noFill/>
        </p:spPr>
        <p:txBody>
          <a:bodyPr wrap="square" lIns="0" tIns="0" rIns="0" bIns="0" anchor="t">
            <a:spAutoFit/>
          </a:bodyPr>
          <a:lstStyle/>
          <a:p>
            <a:pPr>
              <a:lnSpc>
                <a:spcPct val="125000"/>
              </a:lnSpc>
              <a:buNone/>
            </a:pPr>
            <a:r>
              <a:rPr sz="1400" b="1" i="0">
                <a:solidFill>
                  <a:srgbClr val="16233B"/>
                </a:solidFill>
                <a:latin typeface="Times New Roman" panose="02020603050405020304" pitchFamily="18" charset="0"/>
                <a:ea typeface="IBM Plex Sans"/>
                <a:cs typeface="Times New Roman" panose="02020603050405020304" pitchFamily="18" charset="0"/>
              </a:rPr>
              <a:t>Index</a:t>
            </a:r>
          </a:p>
        </p:txBody>
      </p:sp>
      <p:sp>
        <p:nvSpPr>
          <p:cNvPr id="52" name="TextBox 51"/>
          <p:cNvSpPr txBox="1"/>
          <p:nvPr/>
        </p:nvSpPr>
        <p:spPr>
          <a:xfrm>
            <a:off x="10012680" y="3246120"/>
            <a:ext cx="1225295" cy="1255665"/>
          </a:xfrm>
          <a:prstGeom prst="rect">
            <a:avLst/>
          </a:prstGeom>
          <a:noFill/>
        </p:spPr>
        <p:txBody>
          <a:bodyPr wrap="square" lIns="0" tIns="0" rIns="0" bIns="0" anchor="t">
            <a:spAutoFit/>
          </a:bodyPr>
          <a:lstStyle/>
          <a:p>
            <a:pPr>
              <a:lnSpc>
                <a:spcPct val="120000"/>
              </a:lnSpc>
              <a:buNone/>
            </a:pPr>
            <a:r>
              <a:rPr sz="1150" b="0" i="0" dirty="0" err="1">
                <a:solidFill>
                  <a:srgbClr val="4A5363"/>
                </a:solidFill>
                <a:latin typeface="Times New Roman" panose="02020603050405020304" pitchFamily="18" charset="0"/>
                <a:ea typeface="IBM Plex Sans"/>
                <a:cs typeface="Times New Roman" panose="02020603050405020304" pitchFamily="18" charset="0"/>
              </a:rPr>
              <a:t>ColBERT</a:t>
            </a:r>
            <a:r>
              <a:rPr sz="1150" b="0" i="0" dirty="0">
                <a:solidFill>
                  <a:srgbClr val="4A5363"/>
                </a:solidFill>
                <a:latin typeface="Times New Roman" panose="02020603050405020304" pitchFamily="18" charset="0"/>
                <a:ea typeface="IBM Plex Sans"/>
                <a:cs typeface="Times New Roman" panose="02020603050405020304" pitchFamily="18" charset="0"/>
              </a:rPr>
              <a:t> vectors per token in a PLAID index, BM25 as baseline. Export to SQLite, CSV, Excel</a:t>
            </a:r>
          </a:p>
        </p:txBody>
      </p:sp>
      <p:cxnSp>
        <p:nvCxnSpPr>
          <p:cNvPr id="53" name="Connector 52"/>
          <p:cNvCxnSpPr/>
          <p:nvPr/>
        </p:nvCxnSpPr>
        <p:spPr>
          <a:xfrm>
            <a:off x="813816" y="5102352"/>
            <a:ext cx="10570464" cy="0"/>
          </a:xfrm>
          <a:prstGeom prst="line">
            <a:avLst/>
          </a:prstGeom>
          <a:ln w="6350">
            <a:solidFill>
              <a:srgbClr val="C9C2B2"/>
            </a:solidFill>
          </a:ln>
        </p:spPr>
      </p:cxnSp>
      <p:sp>
        <p:nvSpPr>
          <p:cNvPr id="54" name="TextBox 53"/>
          <p:cNvSpPr txBox="1"/>
          <p:nvPr/>
        </p:nvSpPr>
        <p:spPr>
          <a:xfrm>
            <a:off x="813816" y="5248656"/>
            <a:ext cx="2368296" cy="488082"/>
          </a:xfrm>
          <a:prstGeom prst="rect">
            <a:avLst/>
          </a:prstGeom>
          <a:noFill/>
        </p:spPr>
        <p:txBody>
          <a:bodyPr wrap="square" lIns="0" tIns="0" rIns="0" bIns="0" anchor="t">
            <a:spAutoFit/>
          </a:bodyPr>
          <a:lstStyle/>
          <a:p>
            <a:pPr>
              <a:lnSpc>
                <a:spcPct val="125000"/>
              </a:lnSpc>
              <a:buNone/>
            </a:pPr>
            <a:r>
              <a:rPr sz="2800" b="0" i="0" dirty="0">
                <a:solidFill>
                  <a:srgbClr val="16233B"/>
                </a:solidFill>
                <a:latin typeface="Times New Roman" panose="02020603050405020304" pitchFamily="18" charset="0"/>
                <a:ea typeface="Source Serif 4"/>
                <a:cs typeface="Times New Roman" panose="02020603050405020304" pitchFamily="18" charset="0"/>
              </a:rPr>
              <a:t>4,530</a:t>
            </a:r>
          </a:p>
        </p:txBody>
      </p:sp>
      <p:sp>
        <p:nvSpPr>
          <p:cNvPr id="55" name="TextBox 54"/>
          <p:cNvSpPr txBox="1"/>
          <p:nvPr/>
        </p:nvSpPr>
        <p:spPr>
          <a:xfrm>
            <a:off x="813816" y="5733288"/>
            <a:ext cx="2368296" cy="443006"/>
          </a:xfrm>
          <a:prstGeom prst="rect">
            <a:avLst/>
          </a:prstGeom>
          <a:noFill/>
        </p:spPr>
        <p:txBody>
          <a:bodyPr wrap="square" lIns="0" tIns="0" rIns="0" bIns="0" anchor="t">
            <a:spAutoFit/>
          </a:bodyPr>
          <a:lstStyle/>
          <a:p>
            <a:pPr>
              <a:lnSpc>
                <a:spcPct val="125000"/>
              </a:lnSpc>
              <a:buNone/>
            </a:pPr>
            <a:r>
              <a:rPr sz="1200" b="0" i="0" dirty="0">
                <a:solidFill>
                  <a:srgbClr val="6B7280"/>
                </a:solidFill>
                <a:latin typeface="Times New Roman" panose="02020603050405020304" pitchFamily="18" charset="0"/>
                <a:ea typeface="IBM Plex Sans"/>
                <a:cs typeface="Times New Roman" panose="02020603050405020304" pitchFamily="18" charset="0"/>
              </a:rPr>
              <a:t>pages read; 1,648 needed </a:t>
            </a:r>
            <a:r>
              <a:rPr lang="en-US" sz="1200" b="0" i="0" dirty="0">
                <a:solidFill>
                  <a:srgbClr val="6B7280"/>
                </a:solidFill>
                <a:latin typeface="Times New Roman" panose="02020603050405020304" pitchFamily="18" charset="0"/>
                <a:ea typeface="IBM Plex Sans"/>
                <a:cs typeface="Times New Roman" panose="02020603050405020304" pitchFamily="18" charset="0"/>
              </a:rPr>
              <a:t>optical character recognition (OCR)</a:t>
            </a:r>
            <a:endParaRPr sz="1200" b="0" i="0" dirty="0">
              <a:solidFill>
                <a:srgbClr val="6B7280"/>
              </a:solidFill>
              <a:latin typeface="Times New Roman" panose="02020603050405020304" pitchFamily="18" charset="0"/>
              <a:ea typeface="IBM Plex Sans"/>
              <a:cs typeface="Times New Roman" panose="02020603050405020304" pitchFamily="18" charset="0"/>
            </a:endParaRPr>
          </a:p>
        </p:txBody>
      </p:sp>
      <p:sp>
        <p:nvSpPr>
          <p:cNvPr id="60" name="TextBox 59"/>
          <p:cNvSpPr txBox="1"/>
          <p:nvPr/>
        </p:nvSpPr>
        <p:spPr>
          <a:xfrm>
            <a:off x="8741664" y="5248656"/>
            <a:ext cx="2368296" cy="488082"/>
          </a:xfrm>
          <a:prstGeom prst="rect">
            <a:avLst/>
          </a:prstGeom>
          <a:noFill/>
        </p:spPr>
        <p:txBody>
          <a:bodyPr wrap="square" lIns="0" tIns="0" rIns="0" bIns="0" anchor="t">
            <a:spAutoFit/>
          </a:bodyPr>
          <a:lstStyle/>
          <a:p>
            <a:pPr>
              <a:lnSpc>
                <a:spcPct val="125000"/>
              </a:lnSpc>
              <a:buNone/>
            </a:pPr>
            <a:r>
              <a:rPr sz="2800" b="0" i="0">
                <a:solidFill>
                  <a:srgbClr val="16233B"/>
                </a:solidFill>
                <a:latin typeface="Times New Roman" panose="02020603050405020304" pitchFamily="18" charset="0"/>
                <a:ea typeface="Source Serif 4"/>
                <a:cs typeface="Times New Roman" panose="02020603050405020304" pitchFamily="18" charset="0"/>
              </a:rPr>
              <a:t>$4.41</a:t>
            </a:r>
          </a:p>
        </p:txBody>
      </p:sp>
      <p:sp>
        <p:nvSpPr>
          <p:cNvPr id="61" name="TextBox 60"/>
          <p:cNvSpPr txBox="1"/>
          <p:nvPr/>
        </p:nvSpPr>
        <p:spPr>
          <a:xfrm>
            <a:off x="8741664" y="5733288"/>
            <a:ext cx="2368296" cy="209224"/>
          </a:xfrm>
          <a:prstGeom prst="rect">
            <a:avLst/>
          </a:prstGeom>
          <a:noFill/>
        </p:spPr>
        <p:txBody>
          <a:bodyPr wrap="square" lIns="0" tIns="0" rIns="0" bIns="0" anchor="t">
            <a:spAutoFit/>
          </a:bodyPr>
          <a:lstStyle/>
          <a:p>
            <a:pPr>
              <a:lnSpc>
                <a:spcPct val="125000"/>
              </a:lnSpc>
              <a:buNone/>
            </a:pPr>
            <a:r>
              <a:rPr sz="1200" b="0" i="0">
                <a:solidFill>
                  <a:srgbClr val="6B7280"/>
                </a:solidFill>
                <a:latin typeface="Times New Roman" panose="02020603050405020304" pitchFamily="18" charset="0"/>
                <a:ea typeface="IBM Plex Sans"/>
                <a:cs typeface="Times New Roman" panose="02020603050405020304" pitchFamily="18" charset="0"/>
              </a:rPr>
              <a:t>to extract all 389 files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6461F"/>
                </a:solidFill>
                <a:latin typeface="Times New Roman" panose="02020603050405020304" pitchFamily="18" charset="0"/>
                <a:ea typeface="IBM Plex Sans" pitchFamily="34" charset="-122"/>
                <a:cs typeface="Times New Roman" panose="02020603050405020304" pitchFamily="18" charset="0"/>
              </a:rPr>
              <a:t>Contract Intelligence</a:t>
            </a:r>
            <a:endParaRPr lang="en-US" sz="1200" dirty="0">
              <a:latin typeface="Times New Roman" panose="02020603050405020304" pitchFamily="18" charset="0"/>
              <a:cs typeface="Times New Roman" panose="02020603050405020304" pitchFamily="18" charset="0"/>
            </a:endParaRPr>
          </a:p>
        </p:txBody>
      </p:sp>
      <p:sp>
        <p:nvSpPr>
          <p:cNvPr id="3" name="Text 1"/>
          <p:cNvSpPr>
            <a:spLocks noGrp="1"/>
          </p:cNvSpPr>
          <p:nvPr>
            <p:ph type="title"/>
          </p:nvPr>
        </p:nvSpPr>
        <p:spPr>
          <a:xfrm>
            <a:off x="812800" y="12293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6233B"/>
                </a:solidFill>
                <a:latin typeface="Times New Roman" panose="02020603050405020304" pitchFamily="18" charset="0"/>
                <a:ea typeface="Source Serif 4" pitchFamily="18" charset="-122"/>
                <a:cs typeface="Times New Roman" panose="02020603050405020304" pitchFamily="18" charset="0"/>
              </a:rPr>
              <a:t>One row per contract + cited evidence</a:t>
            </a:r>
            <a:endParaRPr lang="en-US" sz="3600" dirty="0">
              <a:latin typeface="Times New Roman" panose="02020603050405020304" pitchFamily="18" charset="0"/>
              <a:cs typeface="Times New Roman" panose="02020603050405020304" pitchFamily="18" charset="0"/>
            </a:endParaRPr>
          </a:p>
        </p:txBody>
      </p:sp>
      <p:sp>
        <p:nvSpPr>
          <p:cNvPr id="4" name="Text 2"/>
          <p:cNvSpPr/>
          <p:nvPr/>
        </p:nvSpPr>
        <p:spPr>
          <a:xfrm>
            <a:off x="812800" y="1935411"/>
            <a:ext cx="10883392"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363"/>
                </a:solidFill>
                <a:latin typeface="Times New Roman" panose="02020603050405020304" pitchFamily="18" charset="0"/>
                <a:ea typeface="IBM Plex Sans" pitchFamily="34" charset="-122"/>
                <a:cs typeface="Times New Roman" panose="02020603050405020304" pitchFamily="18" charset="0"/>
              </a:rPr>
              <a:t>381 Lake County procurement documents become a 19-column table. Every value links to the sentence and page it came from.</a:t>
            </a:r>
            <a:endParaRPr lang="en-US" sz="1600" dirty="0">
              <a:latin typeface="Times New Roman" panose="02020603050405020304" pitchFamily="18" charset="0"/>
              <a:cs typeface="Times New Roman" panose="02020603050405020304" pitchFamily="18" charset="0"/>
            </a:endParaRPr>
          </a:p>
        </p:txBody>
      </p:sp>
      <p:sp>
        <p:nvSpPr>
          <p:cNvPr id="5" name="Shape 3"/>
          <p:cNvSpPr/>
          <p:nvPr/>
        </p:nvSpPr>
        <p:spPr>
          <a:xfrm>
            <a:off x="815975" y="3084314"/>
            <a:ext cx="2520950" cy="2754511"/>
          </a:xfrm>
          <a:prstGeom prst="roundRect">
            <a:avLst>
              <a:gd name="adj" fmla="val 2897"/>
            </a:avLst>
          </a:prstGeom>
          <a:solidFill>
            <a:srgbClr val="FCFBF8"/>
          </a:solidFill>
          <a:ln w="6350">
            <a:solidFill>
              <a:srgbClr val="DDD8CC"/>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6" name="Text 4"/>
          <p:cNvSpPr/>
          <p:nvPr/>
        </p:nvSpPr>
        <p:spPr>
          <a:xfrm>
            <a:off x="1047750" y="3316089"/>
            <a:ext cx="211912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6461F"/>
                </a:solidFill>
                <a:latin typeface="Times New Roman" panose="02020603050405020304" pitchFamily="18" charset="0"/>
                <a:ea typeface="IBM Plex Sans" pitchFamily="34" charset="-122"/>
                <a:cs typeface="Times New Roman" panose="02020603050405020304" pitchFamily="18" charset="0"/>
              </a:rPr>
              <a:t>Identity</a:t>
            </a:r>
            <a:endParaRPr lang="en-US" sz="1200" dirty="0">
              <a:latin typeface="Times New Roman" panose="02020603050405020304" pitchFamily="18" charset="0"/>
              <a:cs typeface="Times New Roman" panose="02020603050405020304" pitchFamily="18" charset="0"/>
            </a:endParaRPr>
          </a:p>
        </p:txBody>
      </p:sp>
      <p:sp>
        <p:nvSpPr>
          <p:cNvPr id="7" name="Text 5"/>
          <p:cNvSpPr/>
          <p:nvPr/>
        </p:nvSpPr>
        <p:spPr>
          <a:xfrm>
            <a:off x="1047750" y="3631009"/>
            <a:ext cx="2119122" cy="51306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3B"/>
                </a:solidFill>
                <a:latin typeface="Times New Roman" panose="02020603050405020304" pitchFamily="18" charset="0"/>
                <a:ea typeface="IBM Plex Sans" pitchFamily="34" charset="-122"/>
                <a:cs typeface="Times New Roman" panose="02020603050405020304" pitchFamily="18" charset="0"/>
              </a:rPr>
              <a:t>Who is it with, and what is it for?</a:t>
            </a:r>
            <a:endParaRPr lang="en-US" sz="1600" dirty="0">
              <a:latin typeface="Times New Roman" panose="02020603050405020304" pitchFamily="18" charset="0"/>
              <a:cs typeface="Times New Roman" panose="02020603050405020304" pitchFamily="18" charset="0"/>
            </a:endParaRPr>
          </a:p>
        </p:txBody>
      </p:sp>
      <p:sp>
        <p:nvSpPr>
          <p:cNvPr id="8" name="Text 6"/>
          <p:cNvSpPr/>
          <p:nvPr/>
        </p:nvSpPr>
        <p:spPr>
          <a:xfrm>
            <a:off x="1133094" y="4220270"/>
            <a:ext cx="2026158" cy="949920"/>
          </a:xfrm>
          <a:prstGeom prst="rect">
            <a:avLst/>
          </a:prstGeom>
          <a:noFill/>
          <a:ln/>
        </p:spPr>
        <p:txBody>
          <a:bodyPr wrap="square" lIns="0" tIns="0" rIns="0" bIns="0" rtlCol="0" anchor="t">
            <a:normAutofit/>
          </a:bodyPr>
          <a:lstStyle/>
          <a:p>
            <a:pPr marL="168656" indent="-168656" algn="l">
              <a:lnSpc>
                <a:spcPts val="1820"/>
              </a:lnSpc>
              <a:buSzPct val="100000"/>
              <a:buChar char="•"/>
            </a:pPr>
            <a:r>
              <a:rPr lang="en-US" sz="1300" dirty="0">
                <a:solidFill>
                  <a:srgbClr val="4A5363"/>
                </a:solidFill>
                <a:latin typeface="Times New Roman" panose="02020603050405020304" pitchFamily="18" charset="0"/>
                <a:ea typeface="IBM Plex Sans" pitchFamily="34" charset="-122"/>
                <a:cs typeface="Times New Roman" panose="02020603050405020304" pitchFamily="18" charset="0"/>
              </a:rPr>
              <a:t>Contract number</a:t>
            </a:r>
            <a:endParaRPr lang="en-US" sz="1300" dirty="0">
              <a:latin typeface="Times New Roman" panose="02020603050405020304" pitchFamily="18" charset="0"/>
              <a:cs typeface="Times New Roman" panose="02020603050405020304" pitchFamily="18" charset="0"/>
            </a:endParaRPr>
          </a:p>
          <a:p>
            <a:pPr marL="168656" indent="-168656" algn="l">
              <a:lnSpc>
                <a:spcPts val="1820"/>
              </a:lnSpc>
              <a:buSzPct val="100000"/>
              <a:buChar char="•"/>
            </a:pPr>
            <a:r>
              <a:rPr lang="en-US" sz="1300" dirty="0">
                <a:solidFill>
                  <a:srgbClr val="4A5363"/>
                </a:solidFill>
                <a:latin typeface="Times New Roman" panose="02020603050405020304" pitchFamily="18" charset="0"/>
                <a:ea typeface="IBM Plex Sans" pitchFamily="34" charset="-122"/>
                <a:cs typeface="Times New Roman" panose="02020603050405020304" pitchFamily="18" charset="0"/>
              </a:rPr>
              <a:t>Document type</a:t>
            </a:r>
            <a:endParaRPr lang="en-US" sz="1300" dirty="0">
              <a:latin typeface="Times New Roman" panose="02020603050405020304" pitchFamily="18" charset="0"/>
              <a:cs typeface="Times New Roman" panose="02020603050405020304" pitchFamily="18" charset="0"/>
            </a:endParaRPr>
          </a:p>
          <a:p>
            <a:pPr marL="168656" indent="-168656" algn="l">
              <a:lnSpc>
                <a:spcPts val="1820"/>
              </a:lnSpc>
              <a:buSzPct val="100000"/>
              <a:buChar char="•"/>
            </a:pPr>
            <a:r>
              <a:rPr lang="en-US" sz="1300" dirty="0">
                <a:solidFill>
                  <a:srgbClr val="4A5363"/>
                </a:solidFill>
                <a:latin typeface="Times New Roman" panose="02020603050405020304" pitchFamily="18" charset="0"/>
                <a:ea typeface="IBM Plex Sans" pitchFamily="34" charset="-122"/>
                <a:cs typeface="Times New Roman" panose="02020603050405020304" pitchFamily="18" charset="0"/>
              </a:rPr>
              <a:t>Vendor</a:t>
            </a:r>
            <a:endParaRPr lang="en-US" sz="1300" dirty="0">
              <a:latin typeface="Times New Roman" panose="02020603050405020304" pitchFamily="18" charset="0"/>
              <a:cs typeface="Times New Roman" panose="02020603050405020304" pitchFamily="18" charset="0"/>
            </a:endParaRPr>
          </a:p>
          <a:p>
            <a:pPr marL="168656" indent="-168656" algn="l">
              <a:lnSpc>
                <a:spcPts val="1820"/>
              </a:lnSpc>
              <a:buSzPct val="100000"/>
              <a:buChar char="•"/>
            </a:pPr>
            <a:r>
              <a:rPr lang="en-US" sz="1300" dirty="0">
                <a:solidFill>
                  <a:srgbClr val="4A5363"/>
                </a:solidFill>
                <a:latin typeface="Times New Roman" panose="02020603050405020304" pitchFamily="18" charset="0"/>
                <a:ea typeface="IBM Plex Sans" pitchFamily="34" charset="-122"/>
                <a:cs typeface="Times New Roman" panose="02020603050405020304" pitchFamily="18" charset="0"/>
              </a:rPr>
              <a:t>Description</a:t>
            </a:r>
            <a:endParaRPr lang="en-US" sz="1300" dirty="0">
              <a:latin typeface="Times New Roman" panose="02020603050405020304" pitchFamily="18" charset="0"/>
              <a:cs typeface="Times New Roman" panose="02020603050405020304" pitchFamily="18" charset="0"/>
            </a:endParaRPr>
          </a:p>
        </p:txBody>
      </p:sp>
      <p:sp>
        <p:nvSpPr>
          <p:cNvPr id="9" name="Shape 7"/>
          <p:cNvSpPr/>
          <p:nvPr/>
        </p:nvSpPr>
        <p:spPr>
          <a:xfrm>
            <a:off x="3495675" y="3084314"/>
            <a:ext cx="2520950" cy="2754511"/>
          </a:xfrm>
          <a:prstGeom prst="roundRect">
            <a:avLst>
              <a:gd name="adj" fmla="val 2897"/>
            </a:avLst>
          </a:prstGeom>
          <a:solidFill>
            <a:srgbClr val="FCFBF8"/>
          </a:solidFill>
          <a:ln w="6350">
            <a:solidFill>
              <a:srgbClr val="DDD8CC"/>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0" name="Text 8"/>
          <p:cNvSpPr/>
          <p:nvPr/>
        </p:nvSpPr>
        <p:spPr>
          <a:xfrm>
            <a:off x="3727450" y="3316089"/>
            <a:ext cx="211912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6461F"/>
                </a:solidFill>
                <a:latin typeface="Times New Roman" panose="02020603050405020304" pitchFamily="18" charset="0"/>
                <a:ea typeface="IBM Plex Sans" pitchFamily="34" charset="-122"/>
                <a:cs typeface="Times New Roman" panose="02020603050405020304" pitchFamily="18" charset="0"/>
              </a:rPr>
              <a:t>Term</a:t>
            </a:r>
            <a:endParaRPr lang="en-US" sz="1200" dirty="0">
              <a:latin typeface="Times New Roman" panose="02020603050405020304" pitchFamily="18" charset="0"/>
              <a:cs typeface="Times New Roman" panose="02020603050405020304" pitchFamily="18" charset="0"/>
            </a:endParaRPr>
          </a:p>
        </p:txBody>
      </p:sp>
      <p:sp>
        <p:nvSpPr>
          <p:cNvPr id="11" name="Text 9"/>
          <p:cNvSpPr/>
          <p:nvPr/>
        </p:nvSpPr>
        <p:spPr>
          <a:xfrm>
            <a:off x="3727450" y="3631009"/>
            <a:ext cx="2119122" cy="51306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3B"/>
                </a:solidFill>
                <a:latin typeface="Times New Roman" panose="02020603050405020304" pitchFamily="18" charset="0"/>
                <a:ea typeface="IBM Plex Sans" pitchFamily="34" charset="-122"/>
                <a:cs typeface="Times New Roman" panose="02020603050405020304" pitchFamily="18" charset="0"/>
              </a:rPr>
              <a:t>When does it end, and who decides?</a:t>
            </a:r>
            <a:endParaRPr lang="en-US" sz="1600" dirty="0">
              <a:latin typeface="Times New Roman" panose="02020603050405020304" pitchFamily="18" charset="0"/>
              <a:cs typeface="Times New Roman" panose="02020603050405020304" pitchFamily="18" charset="0"/>
            </a:endParaRPr>
          </a:p>
        </p:txBody>
      </p:sp>
      <p:sp>
        <p:nvSpPr>
          <p:cNvPr id="12" name="Text 10"/>
          <p:cNvSpPr/>
          <p:nvPr/>
        </p:nvSpPr>
        <p:spPr>
          <a:xfrm>
            <a:off x="3812794" y="4220270"/>
            <a:ext cx="2026158" cy="949920"/>
          </a:xfrm>
          <a:prstGeom prst="rect">
            <a:avLst/>
          </a:prstGeom>
          <a:noFill/>
          <a:ln/>
        </p:spPr>
        <p:txBody>
          <a:bodyPr wrap="square" lIns="0" tIns="0" rIns="0" bIns="0" rtlCol="0" anchor="t">
            <a:normAutofit/>
          </a:bodyPr>
          <a:lstStyle/>
          <a:p>
            <a:pPr marL="168656" indent="-168656" algn="l">
              <a:lnSpc>
                <a:spcPts val="1820"/>
              </a:lnSpc>
              <a:buSzPct val="100000"/>
              <a:buChar char="•"/>
            </a:pPr>
            <a:r>
              <a:rPr lang="en-US" sz="1300" dirty="0">
                <a:solidFill>
                  <a:srgbClr val="4A5363"/>
                </a:solidFill>
                <a:latin typeface="Times New Roman" panose="02020603050405020304" pitchFamily="18" charset="0"/>
                <a:ea typeface="IBM Plex Sans" pitchFamily="34" charset="-122"/>
                <a:cs typeface="Times New Roman" panose="02020603050405020304" pitchFamily="18" charset="0"/>
              </a:rPr>
              <a:t>Start and end dates</a:t>
            </a:r>
            <a:endParaRPr lang="en-US" sz="1300" dirty="0">
              <a:latin typeface="Times New Roman" panose="02020603050405020304" pitchFamily="18" charset="0"/>
              <a:cs typeface="Times New Roman" panose="02020603050405020304" pitchFamily="18" charset="0"/>
            </a:endParaRPr>
          </a:p>
          <a:p>
            <a:pPr marL="168656" indent="-168656" algn="l">
              <a:lnSpc>
                <a:spcPts val="1820"/>
              </a:lnSpc>
              <a:buSzPct val="100000"/>
              <a:buChar char="•"/>
            </a:pPr>
            <a:r>
              <a:rPr lang="en-US" sz="1300" dirty="0">
                <a:solidFill>
                  <a:srgbClr val="4A5363"/>
                </a:solidFill>
                <a:latin typeface="Times New Roman" panose="02020603050405020304" pitchFamily="18" charset="0"/>
                <a:ea typeface="IBM Plex Sans" pitchFamily="34" charset="-122"/>
                <a:cs typeface="Times New Roman" panose="02020603050405020304" pitchFamily="18" charset="0"/>
              </a:rPr>
              <a:t>Renewal terms</a:t>
            </a:r>
            <a:endParaRPr lang="en-US" sz="1300" dirty="0">
              <a:latin typeface="Times New Roman" panose="02020603050405020304" pitchFamily="18" charset="0"/>
              <a:cs typeface="Times New Roman" panose="02020603050405020304" pitchFamily="18" charset="0"/>
            </a:endParaRPr>
          </a:p>
          <a:p>
            <a:pPr marL="168656" indent="-168656" algn="l">
              <a:lnSpc>
                <a:spcPts val="1820"/>
              </a:lnSpc>
              <a:buSzPct val="100000"/>
              <a:buChar char="•"/>
            </a:pPr>
            <a:r>
              <a:rPr lang="en-US" sz="1300" dirty="0">
                <a:solidFill>
                  <a:srgbClr val="4A5363"/>
                </a:solidFill>
                <a:latin typeface="Times New Roman" panose="02020603050405020304" pitchFamily="18" charset="0"/>
                <a:ea typeface="IBM Plex Sans" pitchFamily="34" charset="-122"/>
                <a:cs typeface="Times New Roman" panose="02020603050405020304" pitchFamily="18" charset="0"/>
              </a:rPr>
              <a:t>Automatic renewal</a:t>
            </a:r>
            <a:endParaRPr lang="en-US" sz="1300" dirty="0">
              <a:latin typeface="Times New Roman" panose="02020603050405020304" pitchFamily="18" charset="0"/>
              <a:cs typeface="Times New Roman" panose="02020603050405020304" pitchFamily="18" charset="0"/>
            </a:endParaRPr>
          </a:p>
          <a:p>
            <a:pPr marL="168656" indent="-168656" algn="l">
              <a:lnSpc>
                <a:spcPts val="1820"/>
              </a:lnSpc>
              <a:buSzPct val="100000"/>
              <a:buChar char="•"/>
            </a:pPr>
            <a:r>
              <a:rPr lang="en-US" sz="1300" dirty="0">
                <a:solidFill>
                  <a:srgbClr val="4A5363"/>
                </a:solidFill>
                <a:latin typeface="Times New Roman" panose="02020603050405020304" pitchFamily="18" charset="0"/>
                <a:ea typeface="IBM Plex Sans" pitchFamily="34" charset="-122"/>
                <a:cs typeface="Times New Roman" panose="02020603050405020304" pitchFamily="18" charset="0"/>
              </a:rPr>
              <a:t>Notice period</a:t>
            </a:r>
            <a:endParaRPr lang="en-US" sz="1300" dirty="0">
              <a:latin typeface="Times New Roman" panose="02020603050405020304" pitchFamily="18" charset="0"/>
              <a:cs typeface="Times New Roman" panose="02020603050405020304" pitchFamily="18" charset="0"/>
            </a:endParaRPr>
          </a:p>
        </p:txBody>
      </p:sp>
      <p:sp>
        <p:nvSpPr>
          <p:cNvPr id="13" name="Shape 11"/>
          <p:cNvSpPr/>
          <p:nvPr/>
        </p:nvSpPr>
        <p:spPr>
          <a:xfrm>
            <a:off x="6175375" y="3084314"/>
            <a:ext cx="2520950" cy="2754511"/>
          </a:xfrm>
          <a:prstGeom prst="roundRect">
            <a:avLst>
              <a:gd name="adj" fmla="val 2897"/>
            </a:avLst>
          </a:prstGeom>
          <a:solidFill>
            <a:srgbClr val="FCFBF8"/>
          </a:solidFill>
          <a:ln w="6350">
            <a:solidFill>
              <a:srgbClr val="DDD8CC"/>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4" name="Text 12"/>
          <p:cNvSpPr/>
          <p:nvPr/>
        </p:nvSpPr>
        <p:spPr>
          <a:xfrm>
            <a:off x="6407150" y="3316089"/>
            <a:ext cx="211912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6461F"/>
                </a:solidFill>
                <a:latin typeface="Times New Roman" panose="02020603050405020304" pitchFamily="18" charset="0"/>
                <a:ea typeface="IBM Plex Sans" pitchFamily="34" charset="-122"/>
                <a:cs typeface="Times New Roman" panose="02020603050405020304" pitchFamily="18" charset="0"/>
              </a:rPr>
              <a:t>Value</a:t>
            </a:r>
            <a:endParaRPr lang="en-US" sz="1200" dirty="0">
              <a:latin typeface="Times New Roman" panose="02020603050405020304" pitchFamily="18" charset="0"/>
              <a:cs typeface="Times New Roman" panose="02020603050405020304" pitchFamily="18" charset="0"/>
            </a:endParaRPr>
          </a:p>
        </p:txBody>
      </p:sp>
      <p:sp>
        <p:nvSpPr>
          <p:cNvPr id="15" name="Text 13"/>
          <p:cNvSpPr/>
          <p:nvPr/>
        </p:nvSpPr>
        <p:spPr>
          <a:xfrm>
            <a:off x="6407150" y="3631009"/>
            <a:ext cx="2119122"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3B"/>
                </a:solidFill>
                <a:latin typeface="Times New Roman" panose="02020603050405020304" pitchFamily="18" charset="0"/>
                <a:ea typeface="IBM Plex Sans" pitchFamily="34" charset="-122"/>
                <a:cs typeface="Times New Roman" panose="02020603050405020304" pitchFamily="18" charset="0"/>
              </a:rPr>
              <a:t>What is it worth?</a:t>
            </a:r>
            <a:endParaRPr lang="en-US" sz="1600" dirty="0">
              <a:latin typeface="Times New Roman" panose="02020603050405020304" pitchFamily="18" charset="0"/>
              <a:cs typeface="Times New Roman" panose="02020603050405020304" pitchFamily="18" charset="0"/>
            </a:endParaRPr>
          </a:p>
        </p:txBody>
      </p:sp>
      <p:sp>
        <p:nvSpPr>
          <p:cNvPr id="16" name="Text 14"/>
          <p:cNvSpPr/>
          <p:nvPr/>
        </p:nvSpPr>
        <p:spPr>
          <a:xfrm>
            <a:off x="6492494" y="3976439"/>
            <a:ext cx="2026158" cy="487660"/>
          </a:xfrm>
          <a:prstGeom prst="rect">
            <a:avLst/>
          </a:prstGeom>
          <a:noFill/>
          <a:ln/>
        </p:spPr>
        <p:txBody>
          <a:bodyPr wrap="square" lIns="0" tIns="0" rIns="0" bIns="0" rtlCol="0" anchor="t">
            <a:normAutofit/>
          </a:bodyPr>
          <a:lstStyle/>
          <a:p>
            <a:pPr marL="168656" indent="-168656" algn="l">
              <a:lnSpc>
                <a:spcPts val="1820"/>
              </a:lnSpc>
              <a:buSzPct val="100000"/>
              <a:buChar char="•"/>
            </a:pPr>
            <a:r>
              <a:rPr lang="en-US" sz="1300" dirty="0">
                <a:solidFill>
                  <a:srgbClr val="4A5363"/>
                </a:solidFill>
                <a:latin typeface="Times New Roman" panose="02020603050405020304" pitchFamily="18" charset="0"/>
                <a:ea typeface="IBM Plex Sans" pitchFamily="34" charset="-122"/>
                <a:cs typeface="Times New Roman" panose="02020603050405020304" pitchFamily="18" charset="0"/>
              </a:rPr>
              <a:t>Dollar amount</a:t>
            </a:r>
            <a:endParaRPr lang="en-US" sz="1300" dirty="0">
              <a:latin typeface="Times New Roman" panose="02020603050405020304" pitchFamily="18" charset="0"/>
              <a:cs typeface="Times New Roman" panose="02020603050405020304" pitchFamily="18" charset="0"/>
            </a:endParaRPr>
          </a:p>
          <a:p>
            <a:pPr marL="168656" indent="-168656" algn="l">
              <a:lnSpc>
                <a:spcPts val="1820"/>
              </a:lnSpc>
              <a:buSzPct val="100000"/>
              <a:buChar char="•"/>
            </a:pPr>
            <a:r>
              <a:rPr lang="en-US" sz="1300" dirty="0">
                <a:solidFill>
                  <a:srgbClr val="4A5363"/>
                </a:solidFill>
                <a:latin typeface="Times New Roman" panose="02020603050405020304" pitchFamily="18" charset="0"/>
                <a:ea typeface="IBM Plex Sans" pitchFamily="34" charset="-122"/>
                <a:cs typeface="Times New Roman" panose="02020603050405020304" pitchFamily="18" charset="0"/>
              </a:rPr>
              <a:t>How pricing works</a:t>
            </a:r>
            <a:endParaRPr lang="en-US" sz="1300" dirty="0">
              <a:latin typeface="Times New Roman" panose="02020603050405020304" pitchFamily="18" charset="0"/>
              <a:cs typeface="Times New Roman" panose="02020603050405020304" pitchFamily="18" charset="0"/>
            </a:endParaRPr>
          </a:p>
        </p:txBody>
      </p:sp>
      <p:sp>
        <p:nvSpPr>
          <p:cNvPr id="17" name="Shape 15"/>
          <p:cNvSpPr/>
          <p:nvPr/>
        </p:nvSpPr>
        <p:spPr>
          <a:xfrm>
            <a:off x="8855075" y="3084314"/>
            <a:ext cx="2520950" cy="2754511"/>
          </a:xfrm>
          <a:prstGeom prst="roundRect">
            <a:avLst>
              <a:gd name="adj" fmla="val 2897"/>
            </a:avLst>
          </a:prstGeom>
          <a:solidFill>
            <a:srgbClr val="FCFBF8"/>
          </a:solidFill>
          <a:ln w="6350">
            <a:solidFill>
              <a:srgbClr val="DDD8CC"/>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8" name="Text 16"/>
          <p:cNvSpPr/>
          <p:nvPr/>
        </p:nvSpPr>
        <p:spPr>
          <a:xfrm>
            <a:off x="9086850" y="3316089"/>
            <a:ext cx="211912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6461F"/>
                </a:solidFill>
                <a:latin typeface="Times New Roman" panose="02020603050405020304" pitchFamily="18" charset="0"/>
                <a:ea typeface="IBM Plex Sans" pitchFamily="34" charset="-122"/>
                <a:cs typeface="Times New Roman" panose="02020603050405020304" pitchFamily="18" charset="0"/>
              </a:rPr>
              <a:t>Risk</a:t>
            </a:r>
            <a:endParaRPr lang="en-US" sz="1200" dirty="0">
              <a:latin typeface="Times New Roman" panose="02020603050405020304" pitchFamily="18" charset="0"/>
              <a:cs typeface="Times New Roman" panose="02020603050405020304" pitchFamily="18" charset="0"/>
            </a:endParaRPr>
          </a:p>
        </p:txBody>
      </p:sp>
      <p:sp>
        <p:nvSpPr>
          <p:cNvPr id="19" name="Text 17"/>
          <p:cNvSpPr/>
          <p:nvPr/>
        </p:nvSpPr>
        <p:spPr>
          <a:xfrm>
            <a:off x="9086850" y="3631009"/>
            <a:ext cx="2119122" cy="51306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3B"/>
                </a:solidFill>
                <a:latin typeface="Times New Roman" panose="02020603050405020304" pitchFamily="18" charset="0"/>
                <a:ea typeface="IBM Plex Sans" pitchFamily="34" charset="-122"/>
                <a:cs typeface="Times New Roman" panose="02020603050405020304" pitchFamily="18" charset="0"/>
              </a:rPr>
              <a:t>What happens if things go wrong?</a:t>
            </a:r>
            <a:endParaRPr lang="en-US" sz="1600" dirty="0">
              <a:latin typeface="Times New Roman" panose="02020603050405020304" pitchFamily="18" charset="0"/>
              <a:cs typeface="Times New Roman" panose="02020603050405020304" pitchFamily="18" charset="0"/>
            </a:endParaRPr>
          </a:p>
        </p:txBody>
      </p:sp>
      <p:sp>
        <p:nvSpPr>
          <p:cNvPr id="20" name="Text 18"/>
          <p:cNvSpPr/>
          <p:nvPr/>
        </p:nvSpPr>
        <p:spPr>
          <a:xfrm>
            <a:off x="9172194" y="4220270"/>
            <a:ext cx="2026158" cy="1412180"/>
          </a:xfrm>
          <a:prstGeom prst="rect">
            <a:avLst/>
          </a:prstGeom>
          <a:noFill/>
          <a:ln/>
        </p:spPr>
        <p:txBody>
          <a:bodyPr wrap="square" lIns="0" tIns="0" rIns="0" bIns="0" rtlCol="0" anchor="t">
            <a:normAutofit/>
          </a:bodyPr>
          <a:lstStyle/>
          <a:p>
            <a:pPr marL="168656" indent="-168656" algn="l">
              <a:lnSpc>
                <a:spcPts val="1820"/>
              </a:lnSpc>
              <a:buSzPct val="100000"/>
              <a:buChar char="•"/>
            </a:pPr>
            <a:r>
              <a:rPr lang="en-US" sz="1300" dirty="0">
                <a:solidFill>
                  <a:srgbClr val="4A5363"/>
                </a:solidFill>
                <a:latin typeface="Times New Roman" panose="02020603050405020304" pitchFamily="18" charset="0"/>
                <a:ea typeface="IBM Plex Sans" pitchFamily="34" charset="-122"/>
                <a:cs typeface="Times New Roman" panose="02020603050405020304" pitchFamily="18" charset="0"/>
              </a:rPr>
              <a:t>Cancel without a reason</a:t>
            </a:r>
            <a:endParaRPr lang="en-US" sz="1300" dirty="0">
              <a:latin typeface="Times New Roman" panose="02020603050405020304" pitchFamily="18" charset="0"/>
              <a:cs typeface="Times New Roman" panose="02020603050405020304" pitchFamily="18" charset="0"/>
            </a:endParaRPr>
          </a:p>
          <a:p>
            <a:pPr marL="168656" indent="-168656" algn="l">
              <a:lnSpc>
                <a:spcPts val="1820"/>
              </a:lnSpc>
              <a:buSzPct val="100000"/>
              <a:buChar char="•"/>
            </a:pPr>
            <a:r>
              <a:rPr lang="en-US" sz="1300" dirty="0">
                <a:solidFill>
                  <a:srgbClr val="4A5363"/>
                </a:solidFill>
                <a:latin typeface="Times New Roman" panose="02020603050405020304" pitchFamily="18" charset="0"/>
                <a:ea typeface="IBM Plex Sans" pitchFamily="34" charset="-122"/>
                <a:cs typeface="Times New Roman" panose="02020603050405020304" pitchFamily="18" charset="0"/>
              </a:rPr>
              <a:t>Damage caps and indemnity</a:t>
            </a:r>
            <a:endParaRPr lang="en-US" sz="1300" dirty="0">
              <a:latin typeface="Times New Roman" panose="02020603050405020304" pitchFamily="18" charset="0"/>
              <a:cs typeface="Times New Roman" panose="02020603050405020304" pitchFamily="18" charset="0"/>
            </a:endParaRPr>
          </a:p>
          <a:p>
            <a:pPr marL="168656" indent="-168656" algn="l">
              <a:lnSpc>
                <a:spcPts val="1820"/>
              </a:lnSpc>
              <a:buSzPct val="100000"/>
              <a:buChar char="•"/>
            </a:pPr>
            <a:r>
              <a:rPr lang="en-US" sz="1300" dirty="0">
                <a:solidFill>
                  <a:srgbClr val="4A5363"/>
                </a:solidFill>
                <a:latin typeface="Times New Roman" panose="02020603050405020304" pitchFamily="18" charset="0"/>
                <a:ea typeface="IBM Plex Sans" pitchFamily="34" charset="-122"/>
                <a:cs typeface="Times New Roman" panose="02020603050405020304" pitchFamily="18" charset="0"/>
              </a:rPr>
              <a:t>Insurance and governing law</a:t>
            </a:r>
            <a:endParaRPr lang="en-US" sz="1300" dirty="0">
              <a:latin typeface="Times New Roman" panose="02020603050405020304" pitchFamily="18" charset="0"/>
              <a:cs typeface="Times New Roman" panose="02020603050405020304" pitchFamily="18" charset="0"/>
            </a:endParaRPr>
          </a:p>
          <a:p>
            <a:pPr marL="168656" indent="-168656" algn="l">
              <a:lnSpc>
                <a:spcPts val="1820"/>
              </a:lnSpc>
              <a:buSzPct val="100000"/>
              <a:buChar char="•"/>
            </a:pPr>
            <a:r>
              <a:rPr lang="en-US" sz="1300" dirty="0">
                <a:solidFill>
                  <a:srgbClr val="4A5363"/>
                </a:solidFill>
                <a:latin typeface="Times New Roman" panose="02020603050405020304" pitchFamily="18" charset="0"/>
                <a:ea typeface="IBM Plex Sans" pitchFamily="34" charset="-122"/>
                <a:cs typeface="Times New Roman" panose="02020603050405020304" pitchFamily="18" charset="0"/>
              </a:rPr>
              <a:t>Transfer to a new owner</a:t>
            </a:r>
            <a:endParaRPr lang="en-US" sz="13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6461F"/>
                </a:solidFill>
                <a:latin typeface="Times New Roman" panose="02020603050405020304" pitchFamily="18" charset="0"/>
                <a:ea typeface="IBM Plex Sans" pitchFamily="34" charset="-122"/>
                <a:cs typeface="Times New Roman" panose="02020603050405020304" pitchFamily="18" charset="0"/>
              </a:rPr>
              <a:t>Retrieval Architecture</a:t>
            </a:r>
            <a:endParaRPr lang="en-US" sz="1200" dirty="0">
              <a:latin typeface="Times New Roman" panose="02020603050405020304" pitchFamily="18" charset="0"/>
              <a:cs typeface="Times New Roman" panose="02020603050405020304" pitchFamily="18" charset="0"/>
            </a:endParaRPr>
          </a:p>
        </p:txBody>
      </p:sp>
      <p:sp>
        <p:nvSpPr>
          <p:cNvPr id="3" name="Text 1"/>
          <p:cNvSpPr>
            <a:spLocks noGrp="1"/>
          </p:cNvSpPr>
          <p:nvPr>
            <p:ph type="title"/>
          </p:nvPr>
        </p:nvSpPr>
        <p:spPr>
          <a:xfrm>
            <a:off x="812800" y="12293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6233B"/>
                </a:solidFill>
                <a:latin typeface="Times New Roman" panose="02020603050405020304" pitchFamily="18" charset="0"/>
                <a:ea typeface="Source Serif 4" pitchFamily="18" charset="-122"/>
                <a:cs typeface="Times New Roman" panose="02020603050405020304" pitchFamily="18" charset="0"/>
              </a:rPr>
              <a:t>How a question gets answered</a:t>
            </a:r>
            <a:endParaRPr lang="en-US" sz="3600" dirty="0">
              <a:latin typeface="Times New Roman" panose="02020603050405020304" pitchFamily="18" charset="0"/>
              <a:cs typeface="Times New Roman" panose="02020603050405020304" pitchFamily="18" charset="0"/>
            </a:endParaRPr>
          </a:p>
        </p:txBody>
      </p:sp>
      <p:sp>
        <p:nvSpPr>
          <p:cNvPr id="23" name="Question box"/>
          <p:cNvSpPr/>
          <p:nvPr/>
        </p:nvSpPr>
        <p:spPr>
          <a:xfrm>
            <a:off x="813816" y="2011680"/>
            <a:ext cx="2788920" cy="658368"/>
          </a:xfrm>
          <a:prstGeom prst="roundRect">
            <a:avLst>
              <a:gd name="adj" fmla="val 4000"/>
            </a:avLst>
          </a:prstGeom>
          <a:solidFill>
            <a:srgbClr val="FCFBF8"/>
          </a:solidFill>
          <a:ln w="6350">
            <a:solidFill>
              <a:srgbClr val="DDD8CC"/>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4" name="TextBox 23"/>
          <p:cNvSpPr txBox="1"/>
          <p:nvPr/>
        </p:nvSpPr>
        <p:spPr>
          <a:xfrm>
            <a:off x="996696" y="2139696"/>
            <a:ext cx="2423160" cy="244106"/>
          </a:xfrm>
          <a:prstGeom prst="rect">
            <a:avLst/>
          </a:prstGeom>
          <a:noFill/>
        </p:spPr>
        <p:txBody>
          <a:bodyPr wrap="square" lIns="0" tIns="0" rIns="0" bIns="0" anchor="t">
            <a:spAutoFit/>
          </a:bodyPr>
          <a:lstStyle/>
          <a:p>
            <a:pPr>
              <a:lnSpc>
                <a:spcPct val="125000"/>
              </a:lnSpc>
              <a:buNone/>
            </a:pPr>
            <a:r>
              <a:rPr sz="1400" b="1" i="0">
                <a:solidFill>
                  <a:srgbClr val="16233B"/>
                </a:solidFill>
                <a:latin typeface="Times New Roman" panose="02020603050405020304" pitchFamily="18" charset="0"/>
                <a:ea typeface="IBM Plex Sans"/>
                <a:cs typeface="Times New Roman" panose="02020603050405020304" pitchFamily="18" charset="0"/>
              </a:rPr>
              <a:t>Question</a:t>
            </a:r>
          </a:p>
        </p:txBody>
      </p:sp>
      <p:sp>
        <p:nvSpPr>
          <p:cNvPr id="25" name="TextBox 24"/>
          <p:cNvSpPr txBox="1"/>
          <p:nvPr/>
        </p:nvSpPr>
        <p:spPr>
          <a:xfrm>
            <a:off x="924564" y="2414016"/>
            <a:ext cx="2495292" cy="193836"/>
          </a:xfrm>
          <a:prstGeom prst="rect">
            <a:avLst/>
          </a:prstGeom>
          <a:noFill/>
        </p:spPr>
        <p:txBody>
          <a:bodyPr wrap="square" lIns="0" tIns="0" rIns="0" bIns="0" anchor="t">
            <a:spAutoFit/>
          </a:bodyPr>
          <a:lstStyle/>
          <a:p>
            <a:pPr>
              <a:lnSpc>
                <a:spcPct val="120000"/>
              </a:lnSpc>
              <a:buNone/>
            </a:pPr>
            <a:r>
              <a:rPr sz="1150" b="0" i="0" dirty="0">
                <a:solidFill>
                  <a:srgbClr val="4A5363"/>
                </a:solidFill>
                <a:latin typeface="Times New Roman" panose="02020603050405020304" pitchFamily="18" charset="0"/>
                <a:ea typeface="IBM Plex Sans"/>
                <a:cs typeface="Times New Roman" panose="02020603050405020304" pitchFamily="18" charset="0"/>
              </a:rPr>
              <a:t>From </a:t>
            </a:r>
            <a:r>
              <a:rPr lang="en-US" sz="1150" b="0" i="0" dirty="0">
                <a:solidFill>
                  <a:srgbClr val="4A5363"/>
                </a:solidFill>
                <a:latin typeface="Times New Roman" panose="02020603050405020304" pitchFamily="18" charset="0"/>
                <a:ea typeface="IBM Plex Sans"/>
                <a:cs typeface="Times New Roman" panose="02020603050405020304" pitchFamily="18" charset="0"/>
              </a:rPr>
              <a:t>Teams, </a:t>
            </a:r>
            <a:r>
              <a:rPr sz="1150" b="0" i="0" dirty="0">
                <a:solidFill>
                  <a:srgbClr val="4A5363"/>
                </a:solidFill>
                <a:latin typeface="Times New Roman" panose="02020603050405020304" pitchFamily="18" charset="0"/>
                <a:ea typeface="IBM Plex Sans"/>
                <a:cs typeface="Times New Roman" panose="02020603050405020304" pitchFamily="18" charset="0"/>
              </a:rPr>
              <a:t>Slack</a:t>
            </a:r>
            <a:r>
              <a:rPr lang="en-US" sz="1150" b="0" i="0" dirty="0">
                <a:solidFill>
                  <a:srgbClr val="4A5363"/>
                </a:solidFill>
                <a:latin typeface="Times New Roman" panose="02020603050405020304" pitchFamily="18" charset="0"/>
                <a:ea typeface="IBM Plex Sans"/>
                <a:cs typeface="Times New Roman" panose="02020603050405020304" pitchFamily="18" charset="0"/>
              </a:rPr>
              <a:t>, email</a:t>
            </a:r>
            <a:r>
              <a:rPr sz="1150" b="0" i="0" dirty="0">
                <a:solidFill>
                  <a:srgbClr val="4A5363"/>
                </a:solidFill>
                <a:latin typeface="Times New Roman" panose="02020603050405020304" pitchFamily="18" charset="0"/>
                <a:ea typeface="IBM Plex Sans"/>
                <a:cs typeface="Times New Roman" panose="02020603050405020304" pitchFamily="18" charset="0"/>
              </a:rPr>
              <a:t> or the web app</a:t>
            </a:r>
          </a:p>
        </p:txBody>
      </p:sp>
      <p:cxnSp>
        <p:nvCxnSpPr>
          <p:cNvPr id="26" name="Connector 25"/>
          <p:cNvCxnSpPr/>
          <p:nvPr/>
        </p:nvCxnSpPr>
        <p:spPr>
          <a:xfrm>
            <a:off x="2208276" y="2706624"/>
            <a:ext cx="0" cy="246888"/>
          </a:xfrm>
          <a:prstGeom prst="line">
            <a:avLst/>
          </a:prstGeom>
          <a:ln w="15875">
            <a:solidFill>
              <a:srgbClr val="A6461F"/>
            </a:solidFill>
            <a:tailEnd type="triangle" w="med" len="med"/>
          </a:ln>
        </p:spPr>
      </p:cxnSp>
      <p:sp>
        <p:nvSpPr>
          <p:cNvPr id="27" name="Guardrails box"/>
          <p:cNvSpPr/>
          <p:nvPr/>
        </p:nvSpPr>
        <p:spPr>
          <a:xfrm>
            <a:off x="813816" y="2990088"/>
            <a:ext cx="2788920" cy="914400"/>
          </a:xfrm>
          <a:prstGeom prst="roundRect">
            <a:avLst>
              <a:gd name="adj" fmla="val 4000"/>
            </a:avLst>
          </a:prstGeom>
          <a:solidFill>
            <a:srgbClr val="FCFBF8"/>
          </a:solidFill>
          <a:ln w="6350">
            <a:solidFill>
              <a:srgbClr val="DDD8CC"/>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8" name="TextBox 27"/>
          <p:cNvSpPr txBox="1"/>
          <p:nvPr/>
        </p:nvSpPr>
        <p:spPr>
          <a:xfrm>
            <a:off x="996696" y="3118104"/>
            <a:ext cx="2423160" cy="244106"/>
          </a:xfrm>
          <a:prstGeom prst="rect">
            <a:avLst/>
          </a:prstGeom>
          <a:noFill/>
        </p:spPr>
        <p:txBody>
          <a:bodyPr wrap="square" lIns="0" tIns="0" rIns="0" bIns="0" anchor="t">
            <a:spAutoFit/>
          </a:bodyPr>
          <a:lstStyle/>
          <a:p>
            <a:pPr>
              <a:lnSpc>
                <a:spcPct val="125000"/>
              </a:lnSpc>
              <a:buNone/>
            </a:pPr>
            <a:r>
              <a:rPr sz="1400" b="1" i="0">
                <a:solidFill>
                  <a:srgbClr val="16233B"/>
                </a:solidFill>
                <a:latin typeface="Times New Roman" panose="02020603050405020304" pitchFamily="18" charset="0"/>
                <a:ea typeface="IBM Plex Sans"/>
                <a:cs typeface="Times New Roman" panose="02020603050405020304" pitchFamily="18" charset="0"/>
              </a:rPr>
              <a:t>Guardrails</a:t>
            </a:r>
          </a:p>
        </p:txBody>
      </p:sp>
      <p:sp>
        <p:nvSpPr>
          <p:cNvPr id="29" name="TextBox 28"/>
          <p:cNvSpPr txBox="1"/>
          <p:nvPr/>
        </p:nvSpPr>
        <p:spPr>
          <a:xfrm>
            <a:off x="996696" y="3392424"/>
            <a:ext cx="2423160" cy="406201"/>
          </a:xfrm>
          <a:prstGeom prst="rect">
            <a:avLst/>
          </a:prstGeom>
          <a:noFill/>
        </p:spPr>
        <p:txBody>
          <a:bodyPr wrap="square" lIns="0" tIns="0" rIns="0" bIns="0" anchor="t">
            <a:spAutoFit/>
          </a:bodyPr>
          <a:lstStyle/>
          <a:p>
            <a:pPr>
              <a:lnSpc>
                <a:spcPct val="120000"/>
              </a:lnSpc>
              <a:buNone/>
            </a:pPr>
            <a:r>
              <a:rPr sz="1150" b="0" i="0" dirty="0">
                <a:solidFill>
                  <a:srgbClr val="4A5363"/>
                </a:solidFill>
                <a:latin typeface="Times New Roman" panose="02020603050405020304" pitchFamily="18" charset="0"/>
                <a:ea typeface="IBM Plex Sans"/>
                <a:cs typeface="Times New Roman" panose="02020603050405020304" pitchFamily="18" charset="0"/>
              </a:rPr>
              <a:t>Login, 6 questions a minute, 600 characters, $5 daily AI budget</a:t>
            </a:r>
          </a:p>
        </p:txBody>
      </p:sp>
      <p:cxnSp>
        <p:nvCxnSpPr>
          <p:cNvPr id="30" name="Connector 29"/>
          <p:cNvCxnSpPr/>
          <p:nvPr/>
        </p:nvCxnSpPr>
        <p:spPr>
          <a:xfrm>
            <a:off x="2208276" y="3941063"/>
            <a:ext cx="0" cy="246889"/>
          </a:xfrm>
          <a:prstGeom prst="line">
            <a:avLst/>
          </a:prstGeom>
          <a:ln w="15875">
            <a:solidFill>
              <a:srgbClr val="A6461F"/>
            </a:solidFill>
            <a:tailEnd type="triangle" w="med" len="med"/>
          </a:ln>
        </p:spPr>
      </p:cxnSp>
      <p:sp>
        <p:nvSpPr>
          <p:cNvPr id="31" name="Router box"/>
          <p:cNvSpPr/>
          <p:nvPr/>
        </p:nvSpPr>
        <p:spPr>
          <a:xfrm>
            <a:off x="813816" y="4224528"/>
            <a:ext cx="2788920" cy="1143000"/>
          </a:xfrm>
          <a:prstGeom prst="roundRect">
            <a:avLst>
              <a:gd name="adj" fmla="val 4000"/>
            </a:avLst>
          </a:prstGeom>
          <a:solidFill>
            <a:srgbClr val="16233B"/>
          </a:solidFill>
          <a:ln>
            <a:no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2" name="TextBox 31"/>
          <p:cNvSpPr txBox="1"/>
          <p:nvPr/>
        </p:nvSpPr>
        <p:spPr>
          <a:xfrm>
            <a:off x="996696" y="4352544"/>
            <a:ext cx="2423160" cy="244106"/>
          </a:xfrm>
          <a:prstGeom prst="rect">
            <a:avLst/>
          </a:prstGeom>
          <a:noFill/>
        </p:spPr>
        <p:txBody>
          <a:bodyPr wrap="square" lIns="0" tIns="0" rIns="0" bIns="0" anchor="t">
            <a:spAutoFit/>
          </a:bodyPr>
          <a:lstStyle/>
          <a:p>
            <a:pPr>
              <a:lnSpc>
                <a:spcPct val="125000"/>
              </a:lnSpc>
              <a:buNone/>
            </a:pPr>
            <a:r>
              <a:rPr sz="1400" b="1" i="0">
                <a:solidFill>
                  <a:srgbClr val="F6F4EF"/>
                </a:solidFill>
                <a:latin typeface="Times New Roman" panose="02020603050405020304" pitchFamily="18" charset="0"/>
                <a:ea typeface="IBM Plex Sans"/>
                <a:cs typeface="Times New Roman" panose="02020603050405020304" pitchFamily="18" charset="0"/>
              </a:rPr>
              <a:t>Router</a:t>
            </a:r>
          </a:p>
        </p:txBody>
      </p:sp>
      <p:sp>
        <p:nvSpPr>
          <p:cNvPr id="33" name="TextBox 32"/>
          <p:cNvSpPr txBox="1"/>
          <p:nvPr/>
        </p:nvSpPr>
        <p:spPr>
          <a:xfrm>
            <a:off x="996696" y="4626864"/>
            <a:ext cx="2423160" cy="618567"/>
          </a:xfrm>
          <a:prstGeom prst="rect">
            <a:avLst/>
          </a:prstGeom>
          <a:noFill/>
        </p:spPr>
        <p:txBody>
          <a:bodyPr wrap="square" lIns="0" tIns="0" rIns="0" bIns="0" anchor="t">
            <a:spAutoFit/>
          </a:bodyPr>
          <a:lstStyle/>
          <a:p>
            <a:pPr>
              <a:lnSpc>
                <a:spcPct val="120000"/>
              </a:lnSpc>
              <a:buNone/>
            </a:pPr>
            <a:r>
              <a:rPr sz="1150" b="0" i="0">
                <a:solidFill>
                  <a:srgbClr val="C5CCD8"/>
                </a:solidFill>
                <a:latin typeface="Times New Roman" panose="02020603050405020304" pitchFamily="18" charset="0"/>
                <a:ea typeface="IBM Plex Sans"/>
                <a:cs typeface="Times New Roman" panose="02020603050405020304" pitchFamily="18" charset="0"/>
              </a:rPr>
              <a:t>gpt-5-mini fills a validated query plan: route, filters from an allowlist, named contracts</a:t>
            </a:r>
          </a:p>
        </p:txBody>
      </p:sp>
      <p:sp>
        <p:nvSpPr>
          <p:cNvPr id="35" name="Data cut lane"/>
          <p:cNvSpPr/>
          <p:nvPr/>
        </p:nvSpPr>
        <p:spPr>
          <a:xfrm>
            <a:off x="4224528" y="2011680"/>
            <a:ext cx="7159751" cy="969264"/>
          </a:xfrm>
          <a:prstGeom prst="roundRect">
            <a:avLst>
              <a:gd name="adj" fmla="val 4000"/>
            </a:avLst>
          </a:prstGeom>
          <a:solidFill>
            <a:srgbClr val="FCFBF8"/>
          </a:solidFill>
          <a:ln w="6350">
            <a:solidFill>
              <a:srgbClr val="DDD8CC"/>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6" name="TextBox 35"/>
          <p:cNvSpPr txBox="1"/>
          <p:nvPr/>
        </p:nvSpPr>
        <p:spPr>
          <a:xfrm>
            <a:off x="4425696" y="2148840"/>
            <a:ext cx="2103120" cy="244106"/>
          </a:xfrm>
          <a:prstGeom prst="rect">
            <a:avLst/>
          </a:prstGeom>
          <a:noFill/>
        </p:spPr>
        <p:txBody>
          <a:bodyPr wrap="square" lIns="0" tIns="0" rIns="0" bIns="0" anchor="t">
            <a:spAutoFit/>
          </a:bodyPr>
          <a:lstStyle/>
          <a:p>
            <a:pPr>
              <a:lnSpc>
                <a:spcPct val="125000"/>
              </a:lnSpc>
              <a:buNone/>
            </a:pPr>
            <a:r>
              <a:rPr sz="1400" b="1" i="0">
                <a:solidFill>
                  <a:srgbClr val="16233B"/>
                </a:solidFill>
                <a:latin typeface="Times New Roman" panose="02020603050405020304" pitchFamily="18" charset="0"/>
                <a:ea typeface="IBM Plex Sans"/>
                <a:cs typeface="Times New Roman" panose="02020603050405020304" pitchFamily="18" charset="0"/>
              </a:rPr>
              <a:t>Data cut</a:t>
            </a:r>
          </a:p>
        </p:txBody>
      </p:sp>
      <p:sp>
        <p:nvSpPr>
          <p:cNvPr id="37" name="TextBox 36"/>
          <p:cNvSpPr txBox="1"/>
          <p:nvPr/>
        </p:nvSpPr>
        <p:spPr>
          <a:xfrm>
            <a:off x="4425696" y="2441448"/>
            <a:ext cx="2103120" cy="179088"/>
          </a:xfrm>
          <a:prstGeom prst="rect">
            <a:avLst/>
          </a:prstGeom>
          <a:noFill/>
        </p:spPr>
        <p:txBody>
          <a:bodyPr wrap="square" lIns="0" tIns="0" rIns="0" bIns="0" anchor="t">
            <a:spAutoFit/>
          </a:bodyPr>
          <a:lstStyle/>
          <a:p>
            <a:pPr>
              <a:lnSpc>
                <a:spcPct val="115000"/>
              </a:lnSpc>
              <a:buNone/>
            </a:pPr>
            <a:r>
              <a:rPr sz="1100" b="0" i="1">
                <a:solidFill>
                  <a:srgbClr val="6B7280"/>
                </a:solidFill>
                <a:latin typeface="Times New Roman" panose="02020603050405020304" pitchFamily="18" charset="0"/>
                <a:ea typeface="IBM Plex Sans"/>
                <a:cs typeface="Times New Roman" panose="02020603050405020304" pitchFamily="18" charset="0"/>
              </a:rPr>
              <a:t>“Which contracts auto-renew?”</a:t>
            </a:r>
          </a:p>
        </p:txBody>
      </p:sp>
      <p:sp>
        <p:nvSpPr>
          <p:cNvPr id="38" name="TextBox 37"/>
          <p:cNvSpPr txBox="1"/>
          <p:nvPr/>
        </p:nvSpPr>
        <p:spPr>
          <a:xfrm>
            <a:off x="6739128" y="2148840"/>
            <a:ext cx="4443983" cy="443006"/>
          </a:xfrm>
          <a:prstGeom prst="rect">
            <a:avLst/>
          </a:prstGeom>
          <a:noFill/>
        </p:spPr>
        <p:txBody>
          <a:bodyPr wrap="square" lIns="0" tIns="0" rIns="0" bIns="0" anchor="t">
            <a:spAutoFit/>
          </a:bodyPr>
          <a:lstStyle/>
          <a:p>
            <a:pPr>
              <a:lnSpc>
                <a:spcPct val="125000"/>
              </a:lnSpc>
              <a:buNone/>
            </a:pPr>
            <a:r>
              <a:rPr sz="1200" b="0" i="0" dirty="0">
                <a:solidFill>
                  <a:srgbClr val="4A5363"/>
                </a:solidFill>
                <a:latin typeface="Times New Roman" panose="02020603050405020304" pitchFamily="18" charset="0"/>
                <a:ea typeface="IBM Plex Sans"/>
                <a:cs typeface="Times New Roman" panose="02020603050405020304" pitchFamily="18" charset="0"/>
              </a:rPr>
              <a:t>Plain code filters the table and returns a list, chart and CSV,</a:t>
            </a:r>
            <a:r>
              <a:rPr lang="en-US" sz="1200" b="0" i="0" dirty="0">
                <a:solidFill>
                  <a:srgbClr val="4A5363"/>
                </a:solidFill>
                <a:latin typeface="Times New Roman" panose="02020603050405020304" pitchFamily="18" charset="0"/>
                <a:ea typeface="IBM Plex Sans"/>
                <a:cs typeface="Times New Roman" panose="02020603050405020304" pitchFamily="18" charset="0"/>
              </a:rPr>
              <a:t> and evidence</a:t>
            </a:r>
            <a:r>
              <a:rPr sz="1200" b="0" i="0" dirty="0">
                <a:solidFill>
                  <a:srgbClr val="4A5363"/>
                </a:solidFill>
                <a:latin typeface="Times New Roman" panose="02020603050405020304" pitchFamily="18" charset="0"/>
                <a:ea typeface="IBM Plex Sans"/>
                <a:cs typeface="Times New Roman" panose="02020603050405020304" pitchFamily="18" charset="0"/>
              </a:rPr>
              <a:t>. Blank fields count as unknown, </a:t>
            </a:r>
            <a:r>
              <a:rPr lang="en-US" sz="1200" b="0" i="0" dirty="0">
                <a:solidFill>
                  <a:srgbClr val="4A5363"/>
                </a:solidFill>
                <a:latin typeface="Times New Roman" panose="02020603050405020304" pitchFamily="18" charset="0"/>
                <a:ea typeface="IBM Plex Sans"/>
                <a:cs typeface="Times New Roman" panose="02020603050405020304" pitchFamily="18" charset="0"/>
              </a:rPr>
              <a:t>not</a:t>
            </a:r>
            <a:r>
              <a:rPr sz="1200" b="0" i="0" dirty="0">
                <a:solidFill>
                  <a:srgbClr val="4A5363"/>
                </a:solidFill>
                <a:latin typeface="Times New Roman" panose="02020603050405020304" pitchFamily="18" charset="0"/>
                <a:ea typeface="IBM Plex Sans"/>
                <a:cs typeface="Times New Roman" panose="02020603050405020304" pitchFamily="18" charset="0"/>
              </a:rPr>
              <a:t> as</a:t>
            </a:r>
            <a:r>
              <a:rPr lang="en-US" sz="1200" b="0" i="0" dirty="0">
                <a:solidFill>
                  <a:srgbClr val="4A5363"/>
                </a:solidFill>
                <a:latin typeface="Times New Roman" panose="02020603050405020304" pitchFamily="18" charset="0"/>
                <a:ea typeface="IBM Plex Sans"/>
                <a:cs typeface="Times New Roman" panose="02020603050405020304" pitchFamily="18" charset="0"/>
              </a:rPr>
              <a:t> a</a:t>
            </a:r>
            <a:r>
              <a:rPr sz="1200" b="0" i="0" dirty="0">
                <a:solidFill>
                  <a:srgbClr val="4A5363"/>
                </a:solidFill>
                <a:latin typeface="Times New Roman" panose="02020603050405020304" pitchFamily="18" charset="0"/>
                <a:ea typeface="IBM Plex Sans"/>
                <a:cs typeface="Times New Roman" panose="02020603050405020304" pitchFamily="18" charset="0"/>
              </a:rPr>
              <a:t> </a:t>
            </a:r>
            <a:r>
              <a:rPr lang="en-US" sz="1200" b="0" i="0" dirty="0">
                <a:solidFill>
                  <a:srgbClr val="4A5363"/>
                </a:solidFill>
                <a:latin typeface="Times New Roman" panose="02020603050405020304" pitchFamily="18" charset="0"/>
                <a:ea typeface="IBM Plex Sans"/>
                <a:cs typeface="Times New Roman" panose="02020603050405020304" pitchFamily="18" charset="0"/>
              </a:rPr>
              <a:t>negative</a:t>
            </a:r>
            <a:endParaRPr sz="1200" b="0" i="0" dirty="0">
              <a:solidFill>
                <a:srgbClr val="4A5363"/>
              </a:solidFill>
              <a:latin typeface="Times New Roman" panose="02020603050405020304" pitchFamily="18" charset="0"/>
              <a:ea typeface="IBM Plex Sans"/>
              <a:cs typeface="Times New Roman" panose="02020603050405020304" pitchFamily="18" charset="0"/>
            </a:endParaRPr>
          </a:p>
        </p:txBody>
      </p:sp>
      <p:sp>
        <p:nvSpPr>
          <p:cNvPr id="39" name="Clause question lane"/>
          <p:cNvSpPr/>
          <p:nvPr/>
        </p:nvSpPr>
        <p:spPr>
          <a:xfrm>
            <a:off x="4224528" y="3127248"/>
            <a:ext cx="7159751" cy="969264"/>
          </a:xfrm>
          <a:prstGeom prst="roundRect">
            <a:avLst>
              <a:gd name="adj" fmla="val 4000"/>
            </a:avLst>
          </a:prstGeom>
          <a:solidFill>
            <a:srgbClr val="FCFBF8"/>
          </a:solidFill>
          <a:ln w="6350">
            <a:solidFill>
              <a:srgbClr val="DDD8CC"/>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0" name="TextBox 39"/>
          <p:cNvSpPr txBox="1"/>
          <p:nvPr/>
        </p:nvSpPr>
        <p:spPr>
          <a:xfrm>
            <a:off x="4425696" y="3264408"/>
            <a:ext cx="2103120" cy="244106"/>
          </a:xfrm>
          <a:prstGeom prst="rect">
            <a:avLst/>
          </a:prstGeom>
          <a:noFill/>
        </p:spPr>
        <p:txBody>
          <a:bodyPr wrap="square" lIns="0" tIns="0" rIns="0" bIns="0" anchor="t">
            <a:spAutoFit/>
          </a:bodyPr>
          <a:lstStyle/>
          <a:p>
            <a:pPr>
              <a:lnSpc>
                <a:spcPct val="125000"/>
              </a:lnSpc>
              <a:buNone/>
            </a:pPr>
            <a:r>
              <a:rPr sz="1400" b="1" i="0">
                <a:solidFill>
                  <a:srgbClr val="16233B"/>
                </a:solidFill>
                <a:latin typeface="Times New Roman" panose="02020603050405020304" pitchFamily="18" charset="0"/>
                <a:ea typeface="IBM Plex Sans"/>
                <a:cs typeface="Times New Roman" panose="02020603050405020304" pitchFamily="18" charset="0"/>
              </a:rPr>
              <a:t>Clause question</a:t>
            </a:r>
          </a:p>
        </p:txBody>
      </p:sp>
      <p:sp>
        <p:nvSpPr>
          <p:cNvPr id="41" name="TextBox 40"/>
          <p:cNvSpPr txBox="1"/>
          <p:nvPr/>
        </p:nvSpPr>
        <p:spPr>
          <a:xfrm>
            <a:off x="4425696" y="3557015"/>
            <a:ext cx="2103120" cy="373757"/>
          </a:xfrm>
          <a:prstGeom prst="rect">
            <a:avLst/>
          </a:prstGeom>
          <a:noFill/>
        </p:spPr>
        <p:txBody>
          <a:bodyPr wrap="square" lIns="0" tIns="0" rIns="0" bIns="0" anchor="t">
            <a:spAutoFit/>
          </a:bodyPr>
          <a:lstStyle/>
          <a:p>
            <a:pPr>
              <a:lnSpc>
                <a:spcPct val="115000"/>
              </a:lnSpc>
              <a:buNone/>
            </a:pPr>
            <a:r>
              <a:rPr sz="1100" b="0" i="1">
                <a:solidFill>
                  <a:srgbClr val="6B7280"/>
                </a:solidFill>
                <a:latin typeface="Times New Roman" panose="02020603050405020304" pitchFamily="18" charset="0"/>
                <a:ea typeface="IBM Plex Sans"/>
                <a:cs typeface="Times New Roman" panose="02020603050405020304" pitchFamily="18" charset="0"/>
              </a:rPr>
              <a:t>“Notice to cancel the Grey Wall Veoci deal?”</a:t>
            </a:r>
          </a:p>
        </p:txBody>
      </p:sp>
      <p:sp>
        <p:nvSpPr>
          <p:cNvPr id="42" name="TextBox 41"/>
          <p:cNvSpPr txBox="1"/>
          <p:nvPr/>
        </p:nvSpPr>
        <p:spPr>
          <a:xfrm>
            <a:off x="6739128" y="3264408"/>
            <a:ext cx="4443983" cy="440057"/>
          </a:xfrm>
          <a:prstGeom prst="rect">
            <a:avLst/>
          </a:prstGeom>
          <a:noFill/>
        </p:spPr>
        <p:txBody>
          <a:bodyPr wrap="square" lIns="0" tIns="0" rIns="0" bIns="0" anchor="t">
            <a:spAutoFit/>
          </a:bodyPr>
          <a:lstStyle/>
          <a:p>
            <a:pPr>
              <a:lnSpc>
                <a:spcPct val="125000"/>
              </a:lnSpc>
              <a:buNone/>
            </a:pPr>
            <a:r>
              <a:rPr sz="1200" b="0" i="0" dirty="0">
                <a:solidFill>
                  <a:srgbClr val="4A5363"/>
                </a:solidFill>
                <a:latin typeface="Times New Roman" panose="02020603050405020304" pitchFamily="18" charset="0"/>
                <a:ea typeface="IBM Plex Sans"/>
                <a:cs typeface="Times New Roman" panose="02020603050405020304" pitchFamily="18" charset="0"/>
              </a:rPr>
              <a:t>PLAID pulls 200 candidates, exact token-level scoring </a:t>
            </a:r>
            <a:r>
              <a:rPr sz="1200" b="0" i="0" dirty="0" err="1">
                <a:solidFill>
                  <a:srgbClr val="4A5363"/>
                </a:solidFill>
                <a:latin typeface="Times New Roman" panose="02020603050405020304" pitchFamily="18" charset="0"/>
                <a:ea typeface="IBM Plex Sans"/>
                <a:cs typeface="Times New Roman" panose="02020603050405020304" pitchFamily="18" charset="0"/>
              </a:rPr>
              <a:t>reranks</a:t>
            </a:r>
            <a:r>
              <a:rPr sz="1200" b="0" i="0" dirty="0">
                <a:solidFill>
                  <a:srgbClr val="4A5363"/>
                </a:solidFill>
                <a:latin typeface="Times New Roman" panose="02020603050405020304" pitchFamily="18" charset="0"/>
                <a:ea typeface="IBM Plex Sans"/>
                <a:cs typeface="Times New Roman" panose="02020603050405020304" pitchFamily="18" charset="0"/>
              </a:rPr>
              <a:t> them, the top 8 pass a relevance gate, and the answer must </a:t>
            </a:r>
            <a:r>
              <a:rPr lang="en-US" sz="1200" dirty="0">
                <a:solidFill>
                  <a:srgbClr val="4A5363"/>
                </a:solidFill>
                <a:latin typeface="Times New Roman" panose="02020603050405020304" pitchFamily="18" charset="0"/>
                <a:ea typeface="IBM Plex Sans"/>
                <a:cs typeface="Times New Roman" panose="02020603050405020304" pitchFamily="18" charset="0"/>
              </a:rPr>
              <a:t>have a citation</a:t>
            </a:r>
            <a:endParaRPr sz="1200" b="0" i="0" dirty="0">
              <a:solidFill>
                <a:srgbClr val="4A5363"/>
              </a:solidFill>
              <a:latin typeface="Times New Roman" panose="02020603050405020304" pitchFamily="18" charset="0"/>
              <a:ea typeface="IBM Plex Sans"/>
              <a:cs typeface="Times New Roman" panose="02020603050405020304" pitchFamily="18" charset="0"/>
            </a:endParaRPr>
          </a:p>
        </p:txBody>
      </p:sp>
      <p:sp>
        <p:nvSpPr>
          <p:cNvPr id="43" name="Table plus clause lane"/>
          <p:cNvSpPr/>
          <p:nvPr/>
        </p:nvSpPr>
        <p:spPr>
          <a:xfrm>
            <a:off x="4224528" y="4242816"/>
            <a:ext cx="7159751" cy="969264"/>
          </a:xfrm>
          <a:prstGeom prst="roundRect">
            <a:avLst>
              <a:gd name="adj" fmla="val 4000"/>
            </a:avLst>
          </a:prstGeom>
          <a:solidFill>
            <a:srgbClr val="FCFBF8"/>
          </a:solidFill>
          <a:ln w="6350">
            <a:solidFill>
              <a:srgbClr val="DDD8CC"/>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4" name="TextBox 43"/>
          <p:cNvSpPr txBox="1"/>
          <p:nvPr/>
        </p:nvSpPr>
        <p:spPr>
          <a:xfrm>
            <a:off x="4425696" y="4379976"/>
            <a:ext cx="2103120" cy="244106"/>
          </a:xfrm>
          <a:prstGeom prst="rect">
            <a:avLst/>
          </a:prstGeom>
          <a:noFill/>
        </p:spPr>
        <p:txBody>
          <a:bodyPr wrap="square" lIns="0" tIns="0" rIns="0" bIns="0" anchor="t">
            <a:spAutoFit/>
          </a:bodyPr>
          <a:lstStyle/>
          <a:p>
            <a:pPr>
              <a:lnSpc>
                <a:spcPct val="125000"/>
              </a:lnSpc>
              <a:buNone/>
            </a:pPr>
            <a:r>
              <a:rPr sz="1400" b="1" i="0">
                <a:solidFill>
                  <a:srgbClr val="16233B"/>
                </a:solidFill>
                <a:latin typeface="Times New Roman" panose="02020603050405020304" pitchFamily="18" charset="0"/>
                <a:ea typeface="IBM Plex Sans"/>
                <a:cs typeface="Times New Roman" panose="02020603050405020304" pitchFamily="18" charset="0"/>
              </a:rPr>
              <a:t>Table plus clause</a:t>
            </a:r>
          </a:p>
        </p:txBody>
      </p:sp>
      <p:sp>
        <p:nvSpPr>
          <p:cNvPr id="45" name="TextBox 44"/>
          <p:cNvSpPr txBox="1"/>
          <p:nvPr/>
        </p:nvSpPr>
        <p:spPr>
          <a:xfrm>
            <a:off x="4425696" y="4672583"/>
            <a:ext cx="2103120" cy="373757"/>
          </a:xfrm>
          <a:prstGeom prst="rect">
            <a:avLst/>
          </a:prstGeom>
          <a:noFill/>
        </p:spPr>
        <p:txBody>
          <a:bodyPr wrap="square" lIns="0" tIns="0" rIns="0" bIns="0" anchor="t">
            <a:spAutoFit/>
          </a:bodyPr>
          <a:lstStyle/>
          <a:p>
            <a:pPr>
              <a:lnSpc>
                <a:spcPct val="115000"/>
              </a:lnSpc>
              <a:buNone/>
            </a:pPr>
            <a:r>
              <a:rPr sz="1100" b="0" i="1">
                <a:solidFill>
                  <a:srgbClr val="6B7280"/>
                </a:solidFill>
                <a:latin typeface="Times New Roman" panose="02020603050405020304" pitchFamily="18" charset="0"/>
                <a:ea typeface="IBM Plex Sans"/>
                <a:cs typeface="Times New Roman" panose="02020603050405020304" pitchFamily="18" charset="0"/>
              </a:rPr>
              <a:t>“For the leases, what happens to the equipment at the end?”</a:t>
            </a:r>
          </a:p>
        </p:txBody>
      </p:sp>
      <p:sp>
        <p:nvSpPr>
          <p:cNvPr id="46" name="TextBox 45"/>
          <p:cNvSpPr txBox="1"/>
          <p:nvPr/>
        </p:nvSpPr>
        <p:spPr>
          <a:xfrm>
            <a:off x="6739128" y="4379976"/>
            <a:ext cx="4443983" cy="443006"/>
          </a:xfrm>
          <a:prstGeom prst="rect">
            <a:avLst/>
          </a:prstGeom>
          <a:noFill/>
        </p:spPr>
        <p:txBody>
          <a:bodyPr wrap="square" lIns="0" tIns="0" rIns="0" bIns="0" anchor="t">
            <a:spAutoFit/>
          </a:bodyPr>
          <a:lstStyle/>
          <a:p>
            <a:pPr>
              <a:lnSpc>
                <a:spcPct val="125000"/>
              </a:lnSpc>
              <a:buNone/>
            </a:pPr>
            <a:r>
              <a:rPr sz="1200" b="0" i="0" dirty="0">
                <a:solidFill>
                  <a:srgbClr val="4A5363"/>
                </a:solidFill>
                <a:latin typeface="Times New Roman" panose="02020603050405020304" pitchFamily="18" charset="0"/>
                <a:ea typeface="IBM Plex Sans"/>
                <a:cs typeface="Times New Roman" panose="02020603050405020304" pitchFamily="18" charset="0"/>
              </a:rPr>
              <a:t>Filter in the database first, then search clauses only </a:t>
            </a:r>
            <a:r>
              <a:rPr lang="en-US" sz="1200" b="0" i="0" dirty="0">
                <a:solidFill>
                  <a:srgbClr val="4A5363"/>
                </a:solidFill>
                <a:latin typeface="Times New Roman" panose="02020603050405020304" pitchFamily="18" charset="0"/>
                <a:ea typeface="IBM Plex Sans"/>
                <a:cs typeface="Times New Roman" panose="02020603050405020304" pitchFamily="18" charset="0"/>
              </a:rPr>
              <a:t>in</a:t>
            </a:r>
            <a:r>
              <a:rPr sz="1200" b="0" i="0" dirty="0">
                <a:solidFill>
                  <a:srgbClr val="4A5363"/>
                </a:solidFill>
                <a:latin typeface="Times New Roman" panose="02020603050405020304" pitchFamily="18" charset="0"/>
                <a:ea typeface="IBM Plex Sans"/>
                <a:cs typeface="Times New Roman" panose="02020603050405020304" pitchFamily="18" charset="0"/>
              </a:rPr>
              <a:t> the matching contracts</a:t>
            </a:r>
          </a:p>
        </p:txBody>
      </p:sp>
      <p:sp>
        <p:nvSpPr>
          <p:cNvPr id="47" name="Off-topic lane"/>
          <p:cNvSpPr/>
          <p:nvPr/>
        </p:nvSpPr>
        <p:spPr>
          <a:xfrm>
            <a:off x="4224528" y="5358384"/>
            <a:ext cx="7159751" cy="420624"/>
          </a:xfrm>
          <a:prstGeom prst="roundRect">
            <a:avLst>
              <a:gd name="adj" fmla="val 4000"/>
            </a:avLst>
          </a:prstGeom>
          <a:solidFill>
            <a:srgbClr val="ECE8DF"/>
          </a:solidFill>
          <a:ln>
            <a:no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8" name="TextBox 47"/>
          <p:cNvSpPr txBox="1"/>
          <p:nvPr/>
        </p:nvSpPr>
        <p:spPr>
          <a:xfrm>
            <a:off x="4425696" y="5458968"/>
            <a:ext cx="6793991" cy="212174"/>
          </a:xfrm>
          <a:prstGeom prst="rect">
            <a:avLst/>
          </a:prstGeom>
          <a:noFill/>
        </p:spPr>
        <p:txBody>
          <a:bodyPr wrap="square" lIns="0" tIns="0" rIns="0" bIns="0" anchor="t">
            <a:spAutoFit/>
          </a:bodyPr>
          <a:lstStyle/>
          <a:p>
            <a:pPr>
              <a:lnSpc>
                <a:spcPct val="125000"/>
              </a:lnSpc>
              <a:buNone/>
            </a:pPr>
            <a:r>
              <a:rPr sz="1200" b="1" i="0" dirty="0">
                <a:solidFill>
                  <a:srgbClr val="16233B"/>
                </a:solidFill>
                <a:latin typeface="Times New Roman" panose="02020603050405020304" pitchFamily="18" charset="0"/>
                <a:ea typeface="IBM Plex Sans"/>
                <a:cs typeface="Times New Roman" panose="02020603050405020304" pitchFamily="18" charset="0"/>
              </a:rPr>
              <a:t>Off-topic</a:t>
            </a:r>
            <a:r>
              <a:rPr sz="1200" b="0" i="0" dirty="0">
                <a:solidFill>
                  <a:srgbClr val="4A5363"/>
                </a:solidFill>
                <a:latin typeface="Times New Roman" panose="02020603050405020304" pitchFamily="18" charset="0"/>
                <a:ea typeface="IBM Plex Sans"/>
                <a:cs typeface="Times New Roman" panose="02020603050405020304" pitchFamily="18" charset="0"/>
              </a:rPr>
              <a:t>   Declined without searching </a:t>
            </a:r>
            <a:r>
              <a:rPr sz="1200" b="0" i="0" dirty="0" err="1">
                <a:solidFill>
                  <a:srgbClr val="4A5363"/>
                </a:solidFill>
                <a:latin typeface="Times New Roman" panose="02020603050405020304" pitchFamily="18" charset="0"/>
                <a:ea typeface="IBM Plex Sans"/>
                <a:cs typeface="Times New Roman" panose="02020603050405020304" pitchFamily="18" charset="0"/>
              </a:rPr>
              <a:t>eg</a:t>
            </a:r>
            <a:r>
              <a:rPr sz="1200" b="0" i="0" dirty="0">
                <a:solidFill>
                  <a:srgbClr val="4A5363"/>
                </a:solidFill>
                <a:latin typeface="Times New Roman" panose="02020603050405020304" pitchFamily="18" charset="0"/>
                <a:ea typeface="IBM Plex Sans"/>
                <a:cs typeface="Times New Roman" panose="02020603050405020304" pitchFamily="18" charset="0"/>
              </a:rPr>
              <a:t> “Who won the </a:t>
            </a:r>
            <a:r>
              <a:rPr lang="en-US" sz="1200" b="0" i="0" dirty="0">
                <a:solidFill>
                  <a:srgbClr val="4A5363"/>
                </a:solidFill>
                <a:latin typeface="Times New Roman" panose="02020603050405020304" pitchFamily="18" charset="0"/>
                <a:ea typeface="IBM Plex Sans"/>
                <a:cs typeface="Times New Roman" panose="02020603050405020304" pitchFamily="18" charset="0"/>
              </a:rPr>
              <a:t>last </a:t>
            </a:r>
            <a:r>
              <a:rPr sz="1200" b="0" i="0" dirty="0">
                <a:solidFill>
                  <a:srgbClr val="4A5363"/>
                </a:solidFill>
                <a:latin typeface="Times New Roman" panose="02020603050405020304" pitchFamily="18" charset="0"/>
                <a:ea typeface="IBM Plex Sans"/>
                <a:cs typeface="Times New Roman" panose="02020603050405020304" pitchFamily="18" charset="0"/>
              </a:rPr>
              <a:t>World Series?”</a:t>
            </a:r>
          </a:p>
        </p:txBody>
      </p:sp>
      <p:cxnSp>
        <p:nvCxnSpPr>
          <p:cNvPr id="49" name="Connector 48"/>
          <p:cNvCxnSpPr/>
          <p:nvPr/>
        </p:nvCxnSpPr>
        <p:spPr>
          <a:xfrm>
            <a:off x="3602736" y="4727448"/>
            <a:ext cx="301751" cy="0"/>
          </a:xfrm>
          <a:prstGeom prst="line">
            <a:avLst/>
          </a:prstGeom>
          <a:ln w="15875">
            <a:solidFill>
              <a:srgbClr val="A6461F"/>
            </a:solidFill>
          </a:ln>
        </p:spPr>
      </p:cxnSp>
      <p:cxnSp>
        <p:nvCxnSpPr>
          <p:cNvPr id="50" name="Connector 49"/>
          <p:cNvCxnSpPr/>
          <p:nvPr/>
        </p:nvCxnSpPr>
        <p:spPr>
          <a:xfrm>
            <a:off x="3904487" y="2496312"/>
            <a:ext cx="0" cy="3072384"/>
          </a:xfrm>
          <a:prstGeom prst="line">
            <a:avLst/>
          </a:prstGeom>
          <a:ln w="15875">
            <a:solidFill>
              <a:srgbClr val="A6461F"/>
            </a:solidFill>
          </a:ln>
        </p:spPr>
      </p:cxnSp>
      <p:cxnSp>
        <p:nvCxnSpPr>
          <p:cNvPr id="51" name="Connector 50"/>
          <p:cNvCxnSpPr/>
          <p:nvPr/>
        </p:nvCxnSpPr>
        <p:spPr>
          <a:xfrm>
            <a:off x="3904487" y="2496312"/>
            <a:ext cx="283465" cy="0"/>
          </a:xfrm>
          <a:prstGeom prst="line">
            <a:avLst/>
          </a:prstGeom>
          <a:ln w="15875">
            <a:solidFill>
              <a:srgbClr val="A6461F"/>
            </a:solidFill>
            <a:tailEnd type="triangle" w="med" len="med"/>
          </a:ln>
        </p:spPr>
      </p:cxnSp>
      <p:cxnSp>
        <p:nvCxnSpPr>
          <p:cNvPr id="52" name="Connector 51"/>
          <p:cNvCxnSpPr/>
          <p:nvPr/>
        </p:nvCxnSpPr>
        <p:spPr>
          <a:xfrm>
            <a:off x="3904487" y="3611880"/>
            <a:ext cx="283465" cy="0"/>
          </a:xfrm>
          <a:prstGeom prst="line">
            <a:avLst/>
          </a:prstGeom>
          <a:ln w="15875">
            <a:solidFill>
              <a:srgbClr val="A6461F"/>
            </a:solidFill>
            <a:tailEnd type="triangle" w="med" len="med"/>
          </a:ln>
        </p:spPr>
      </p:cxnSp>
      <p:cxnSp>
        <p:nvCxnSpPr>
          <p:cNvPr id="53" name="Connector 52"/>
          <p:cNvCxnSpPr/>
          <p:nvPr/>
        </p:nvCxnSpPr>
        <p:spPr>
          <a:xfrm>
            <a:off x="3904487" y="4727448"/>
            <a:ext cx="283465" cy="0"/>
          </a:xfrm>
          <a:prstGeom prst="line">
            <a:avLst/>
          </a:prstGeom>
          <a:ln w="15875">
            <a:solidFill>
              <a:srgbClr val="A6461F"/>
            </a:solidFill>
            <a:tailEnd type="triangle" w="med" len="med"/>
          </a:ln>
        </p:spPr>
      </p:cxnSp>
      <p:cxnSp>
        <p:nvCxnSpPr>
          <p:cNvPr id="54" name="Connector 53"/>
          <p:cNvCxnSpPr/>
          <p:nvPr/>
        </p:nvCxnSpPr>
        <p:spPr>
          <a:xfrm>
            <a:off x="3904487" y="5568696"/>
            <a:ext cx="283465" cy="0"/>
          </a:xfrm>
          <a:prstGeom prst="line">
            <a:avLst/>
          </a:prstGeom>
          <a:ln w="15875">
            <a:solidFill>
              <a:srgbClr val="A6461F"/>
            </a:solidFill>
            <a:tailEnd type="triangl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6461F"/>
                </a:solidFill>
                <a:latin typeface="Times New Roman" panose="02020603050405020304" pitchFamily="18" charset="0"/>
                <a:ea typeface="IBM Plex Sans" pitchFamily="34" charset="-122"/>
                <a:cs typeface="Times New Roman" panose="02020603050405020304" pitchFamily="18" charset="0"/>
              </a:rPr>
              <a:t>Testing</a:t>
            </a:r>
            <a:endParaRPr lang="en-US" sz="1200" dirty="0">
              <a:latin typeface="Times New Roman" panose="02020603050405020304" pitchFamily="18" charset="0"/>
              <a:cs typeface="Times New Roman" panose="02020603050405020304" pitchFamily="18" charset="0"/>
            </a:endParaRPr>
          </a:p>
        </p:txBody>
      </p:sp>
      <p:sp>
        <p:nvSpPr>
          <p:cNvPr id="3" name="Text 1"/>
          <p:cNvSpPr>
            <a:spLocks noGrp="1"/>
          </p:cNvSpPr>
          <p:nvPr>
            <p:ph type="title"/>
          </p:nvPr>
        </p:nvSpPr>
        <p:spPr>
          <a:xfrm>
            <a:off x="812800" y="12293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6233B"/>
                </a:solidFill>
                <a:latin typeface="Times New Roman" panose="02020603050405020304" pitchFamily="18" charset="0"/>
                <a:ea typeface="Source Serif 4" pitchFamily="18" charset="-122"/>
                <a:cs typeface="Times New Roman" panose="02020603050405020304" pitchFamily="18" charset="0"/>
              </a:rPr>
              <a:t>What broke, what I fixed, and the retest</a:t>
            </a:r>
            <a:endParaRPr lang="en-US" sz="3600" dirty="0">
              <a:latin typeface="Times New Roman" panose="02020603050405020304" pitchFamily="18" charset="0"/>
              <a:cs typeface="Times New Roman" panose="02020603050405020304" pitchFamily="18" charset="0"/>
            </a:endParaRPr>
          </a:p>
        </p:txBody>
      </p:sp>
      <p:sp>
        <p:nvSpPr>
          <p:cNvPr id="26" name="Result tile 2"/>
          <p:cNvSpPr/>
          <p:nvPr/>
        </p:nvSpPr>
        <p:spPr>
          <a:xfrm>
            <a:off x="1217422" y="1810512"/>
            <a:ext cx="2471166" cy="987552"/>
          </a:xfrm>
          <a:prstGeom prst="roundRect">
            <a:avLst>
              <a:gd name="adj" fmla="val 4000"/>
            </a:avLst>
          </a:prstGeom>
          <a:solidFill>
            <a:srgbClr val="FCFBF8"/>
          </a:solidFill>
          <a:ln w="6350">
            <a:solidFill>
              <a:srgbClr val="DDD8CC"/>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7" name="TextBox 26"/>
          <p:cNvSpPr txBox="1"/>
          <p:nvPr/>
        </p:nvSpPr>
        <p:spPr>
          <a:xfrm>
            <a:off x="1418590" y="1901952"/>
            <a:ext cx="2068830" cy="453201"/>
          </a:xfrm>
          <a:prstGeom prst="rect">
            <a:avLst/>
          </a:prstGeom>
          <a:noFill/>
        </p:spPr>
        <p:txBody>
          <a:bodyPr wrap="square" lIns="0" tIns="0" rIns="0" bIns="0" anchor="t">
            <a:spAutoFit/>
          </a:bodyPr>
          <a:lstStyle/>
          <a:p>
            <a:pPr>
              <a:lnSpc>
                <a:spcPct val="125000"/>
              </a:lnSpc>
              <a:buNone/>
            </a:pPr>
            <a:r>
              <a:rPr sz="2600" b="0" i="0">
                <a:solidFill>
                  <a:srgbClr val="16233B"/>
                </a:solidFill>
                <a:latin typeface="Times New Roman" panose="02020603050405020304" pitchFamily="18" charset="0"/>
                <a:ea typeface="Source Serif 4"/>
                <a:cs typeface="Times New Roman" panose="02020603050405020304" pitchFamily="18" charset="0"/>
              </a:rPr>
              <a:t>1 → 6 of 6</a:t>
            </a:r>
          </a:p>
        </p:txBody>
      </p:sp>
      <p:sp>
        <p:nvSpPr>
          <p:cNvPr id="28" name="TextBox 27"/>
          <p:cNvSpPr txBox="1"/>
          <p:nvPr/>
        </p:nvSpPr>
        <p:spPr>
          <a:xfrm>
            <a:off x="1418590" y="2340864"/>
            <a:ext cx="2068830" cy="373692"/>
          </a:xfrm>
          <a:prstGeom prst="rect">
            <a:avLst/>
          </a:prstGeom>
          <a:noFill/>
        </p:spPr>
        <p:txBody>
          <a:bodyPr wrap="square" lIns="0" tIns="0" rIns="0" bIns="0" anchor="t">
            <a:spAutoFit/>
          </a:bodyPr>
          <a:lstStyle/>
          <a:p>
            <a:pPr>
              <a:lnSpc>
                <a:spcPct val="115000"/>
              </a:lnSpc>
              <a:buNone/>
            </a:pPr>
            <a:r>
              <a:rPr sz="1100" b="0" i="0">
                <a:solidFill>
                  <a:srgbClr val="6B7280"/>
                </a:solidFill>
                <a:latin typeface="Times New Roman" panose="02020603050405020304" pitchFamily="18" charset="0"/>
                <a:ea typeface="IBM Plex Sans"/>
                <a:cs typeface="Times New Roman" panose="02020603050405020304" pitchFamily="18" charset="0"/>
              </a:rPr>
              <a:t>real chat questions fully right, first run → after fixes</a:t>
            </a:r>
          </a:p>
        </p:txBody>
      </p:sp>
      <p:sp>
        <p:nvSpPr>
          <p:cNvPr id="29" name="Result tile 3"/>
          <p:cNvSpPr/>
          <p:nvPr/>
        </p:nvSpPr>
        <p:spPr>
          <a:xfrm>
            <a:off x="4860417" y="1810512"/>
            <a:ext cx="2471166" cy="987552"/>
          </a:xfrm>
          <a:prstGeom prst="roundRect">
            <a:avLst>
              <a:gd name="adj" fmla="val 4000"/>
            </a:avLst>
          </a:prstGeom>
          <a:solidFill>
            <a:srgbClr val="FCFBF8"/>
          </a:solidFill>
          <a:ln w="6350">
            <a:solidFill>
              <a:srgbClr val="DDD8CC"/>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0" name="TextBox 29"/>
          <p:cNvSpPr txBox="1"/>
          <p:nvPr/>
        </p:nvSpPr>
        <p:spPr>
          <a:xfrm>
            <a:off x="5061585" y="1901952"/>
            <a:ext cx="2068830" cy="453201"/>
          </a:xfrm>
          <a:prstGeom prst="rect">
            <a:avLst/>
          </a:prstGeom>
          <a:noFill/>
        </p:spPr>
        <p:txBody>
          <a:bodyPr wrap="square" lIns="0" tIns="0" rIns="0" bIns="0" anchor="t">
            <a:spAutoFit/>
          </a:bodyPr>
          <a:lstStyle/>
          <a:p>
            <a:pPr>
              <a:lnSpc>
                <a:spcPct val="125000"/>
              </a:lnSpc>
              <a:buNone/>
            </a:pPr>
            <a:r>
              <a:rPr lang="en-US" sz="2600" b="0" i="0" dirty="0">
                <a:solidFill>
                  <a:srgbClr val="16233B"/>
                </a:solidFill>
                <a:latin typeface="Times New Roman" panose="02020603050405020304" pitchFamily="18" charset="0"/>
                <a:ea typeface="Source Serif 4"/>
                <a:cs typeface="Times New Roman" panose="02020603050405020304" pitchFamily="18" charset="0"/>
              </a:rPr>
              <a:t>88</a:t>
            </a:r>
            <a:endParaRPr sz="2600" b="0" i="0" dirty="0">
              <a:solidFill>
                <a:srgbClr val="16233B"/>
              </a:solidFill>
              <a:latin typeface="Times New Roman" panose="02020603050405020304" pitchFamily="18" charset="0"/>
              <a:ea typeface="Source Serif 4"/>
              <a:cs typeface="Times New Roman" panose="02020603050405020304" pitchFamily="18" charset="0"/>
            </a:endParaRPr>
          </a:p>
        </p:txBody>
      </p:sp>
      <p:sp>
        <p:nvSpPr>
          <p:cNvPr id="31" name="TextBox 30"/>
          <p:cNvSpPr txBox="1"/>
          <p:nvPr/>
        </p:nvSpPr>
        <p:spPr>
          <a:xfrm>
            <a:off x="5061585" y="2340864"/>
            <a:ext cx="2068830" cy="179023"/>
          </a:xfrm>
          <a:prstGeom prst="rect">
            <a:avLst/>
          </a:prstGeom>
          <a:noFill/>
        </p:spPr>
        <p:txBody>
          <a:bodyPr wrap="square" lIns="0" tIns="0" rIns="0" bIns="0" anchor="t">
            <a:spAutoFit/>
          </a:bodyPr>
          <a:lstStyle/>
          <a:p>
            <a:pPr>
              <a:lnSpc>
                <a:spcPct val="115000"/>
              </a:lnSpc>
              <a:buNone/>
            </a:pPr>
            <a:r>
              <a:rPr lang="en-US" sz="1100" b="0" i="0" dirty="0">
                <a:solidFill>
                  <a:srgbClr val="6B7280"/>
                </a:solidFill>
                <a:latin typeface="Times New Roman" panose="02020603050405020304" pitchFamily="18" charset="0"/>
                <a:ea typeface="IBM Plex Sans"/>
                <a:cs typeface="Times New Roman" panose="02020603050405020304" pitchFamily="18" charset="0"/>
              </a:rPr>
              <a:t>Automated tests</a:t>
            </a:r>
            <a:endParaRPr sz="1100" b="0" i="0" dirty="0">
              <a:solidFill>
                <a:srgbClr val="6B7280"/>
              </a:solidFill>
              <a:latin typeface="Times New Roman" panose="02020603050405020304" pitchFamily="18" charset="0"/>
              <a:ea typeface="IBM Plex Sans"/>
              <a:cs typeface="Times New Roman" panose="02020603050405020304" pitchFamily="18" charset="0"/>
            </a:endParaRPr>
          </a:p>
        </p:txBody>
      </p:sp>
      <p:sp>
        <p:nvSpPr>
          <p:cNvPr id="32" name="Result tile 4"/>
          <p:cNvSpPr/>
          <p:nvPr/>
        </p:nvSpPr>
        <p:spPr>
          <a:xfrm>
            <a:off x="8913114" y="1810512"/>
            <a:ext cx="2471166" cy="987552"/>
          </a:xfrm>
          <a:prstGeom prst="roundRect">
            <a:avLst>
              <a:gd name="adj" fmla="val 4000"/>
            </a:avLst>
          </a:prstGeom>
          <a:solidFill>
            <a:srgbClr val="16233B"/>
          </a:solidFill>
          <a:ln>
            <a:no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3" name="TextBox 32"/>
          <p:cNvSpPr txBox="1"/>
          <p:nvPr/>
        </p:nvSpPr>
        <p:spPr>
          <a:xfrm>
            <a:off x="9114282" y="1901952"/>
            <a:ext cx="2068830" cy="453201"/>
          </a:xfrm>
          <a:prstGeom prst="rect">
            <a:avLst/>
          </a:prstGeom>
          <a:noFill/>
        </p:spPr>
        <p:txBody>
          <a:bodyPr wrap="square" lIns="0" tIns="0" rIns="0" bIns="0" anchor="t">
            <a:spAutoFit/>
          </a:bodyPr>
          <a:lstStyle/>
          <a:p>
            <a:pPr>
              <a:lnSpc>
                <a:spcPct val="125000"/>
              </a:lnSpc>
              <a:buNone/>
            </a:pPr>
            <a:r>
              <a:rPr sz="2600" b="0" i="0">
                <a:solidFill>
                  <a:srgbClr val="F6F4EF"/>
                </a:solidFill>
                <a:latin typeface="Times New Roman" panose="02020603050405020304" pitchFamily="18" charset="0"/>
                <a:ea typeface="Source Serif 4"/>
                <a:cs typeface="Times New Roman" panose="02020603050405020304" pitchFamily="18" charset="0"/>
              </a:rPr>
              <a:t>10 of 10</a:t>
            </a:r>
          </a:p>
        </p:txBody>
      </p:sp>
      <p:sp>
        <p:nvSpPr>
          <p:cNvPr id="34" name="TextBox 33"/>
          <p:cNvSpPr txBox="1"/>
          <p:nvPr/>
        </p:nvSpPr>
        <p:spPr>
          <a:xfrm>
            <a:off x="9114282" y="2340864"/>
            <a:ext cx="2068830" cy="373692"/>
          </a:xfrm>
          <a:prstGeom prst="rect">
            <a:avLst/>
          </a:prstGeom>
          <a:noFill/>
        </p:spPr>
        <p:txBody>
          <a:bodyPr wrap="square" lIns="0" tIns="0" rIns="0" bIns="0" anchor="t">
            <a:spAutoFit/>
          </a:bodyPr>
          <a:lstStyle/>
          <a:p>
            <a:pPr>
              <a:lnSpc>
                <a:spcPct val="115000"/>
              </a:lnSpc>
              <a:buNone/>
            </a:pPr>
            <a:r>
              <a:rPr sz="1100" b="0" i="0" dirty="0">
                <a:solidFill>
                  <a:srgbClr val="C5CCD8"/>
                </a:solidFill>
                <a:latin typeface="Times New Roman" panose="02020603050405020304" pitchFamily="18" charset="0"/>
                <a:ea typeface="IBM Plex Sans"/>
                <a:cs typeface="Times New Roman" panose="02020603050405020304" pitchFamily="18" charset="0"/>
              </a:rPr>
              <a:t>right on a new out-of-sample exam, 4 questions with </a:t>
            </a:r>
            <a:r>
              <a:rPr lang="en-US" sz="1100" b="0" i="0" dirty="0">
                <a:solidFill>
                  <a:srgbClr val="C5CCD8"/>
                </a:solidFill>
                <a:latin typeface="Times New Roman" panose="02020603050405020304" pitchFamily="18" charset="0"/>
                <a:ea typeface="IBM Plex Sans"/>
                <a:cs typeface="Times New Roman" panose="02020603050405020304" pitchFamily="18" charset="0"/>
              </a:rPr>
              <a:t>traps</a:t>
            </a:r>
            <a:endParaRPr sz="1100" b="0" i="0" dirty="0">
              <a:solidFill>
                <a:srgbClr val="C5CCD8"/>
              </a:solidFill>
              <a:latin typeface="Times New Roman" panose="02020603050405020304" pitchFamily="18" charset="0"/>
              <a:ea typeface="IBM Plex Sans"/>
              <a:cs typeface="Times New Roman" panose="02020603050405020304" pitchFamily="18" charset="0"/>
            </a:endParaRPr>
          </a:p>
        </p:txBody>
      </p:sp>
      <p:graphicFrame>
        <p:nvGraphicFramePr>
          <p:cNvPr id="35" name="Failure table"/>
          <p:cNvGraphicFramePr>
            <a:graphicFrameLocks noGrp="1"/>
          </p:cNvGraphicFramePr>
          <p:nvPr>
            <p:extLst>
              <p:ext uri="{D42A27DB-BD31-4B8C-83A1-F6EECF244321}">
                <p14:modId xmlns:p14="http://schemas.microsoft.com/office/powerpoint/2010/main" val="4252735076"/>
              </p:ext>
            </p:extLst>
          </p:nvPr>
        </p:nvGraphicFramePr>
        <p:xfrm>
          <a:off x="813816" y="3017520"/>
          <a:ext cx="10570464" cy="1975104"/>
        </p:xfrm>
        <a:graphic>
          <a:graphicData uri="http://schemas.openxmlformats.org/drawingml/2006/table">
            <a:tbl>
              <a:tblPr>
                <a:tableStyleId>{5940675A-B579-460E-94D1-54222C63F5DA}</a:tableStyleId>
              </a:tblPr>
              <a:tblGrid>
                <a:gridCol w="2610104">
                  <a:extLst>
                    <a:ext uri="{9D8B030D-6E8A-4147-A177-3AD203B41FA5}">
                      <a16:colId xmlns:a16="http://schemas.microsoft.com/office/drawing/2014/main" val="20000"/>
                    </a:ext>
                  </a:extLst>
                </a:gridCol>
                <a:gridCol w="4156456">
                  <a:extLst>
                    <a:ext uri="{9D8B030D-6E8A-4147-A177-3AD203B41FA5}">
                      <a16:colId xmlns:a16="http://schemas.microsoft.com/office/drawing/2014/main" val="20001"/>
                    </a:ext>
                  </a:extLst>
                </a:gridCol>
                <a:gridCol w="3803904">
                  <a:extLst>
                    <a:ext uri="{9D8B030D-6E8A-4147-A177-3AD203B41FA5}">
                      <a16:colId xmlns:a16="http://schemas.microsoft.com/office/drawing/2014/main" val="20002"/>
                    </a:ext>
                  </a:extLst>
                </a:gridCol>
              </a:tblGrid>
              <a:tr h="329184">
                <a:tc>
                  <a:txBody>
                    <a:bodyPr/>
                    <a:lstStyle/>
                    <a:p>
                      <a:r>
                        <a:rPr sz="1200" b="1" i="0">
                          <a:solidFill>
                            <a:srgbClr val="F6F4EF"/>
                          </a:solidFill>
                          <a:latin typeface="Times New Roman" panose="02020603050405020304" pitchFamily="18" charset="0"/>
                          <a:ea typeface="IBM Plex Sans"/>
                          <a:cs typeface="Times New Roman" panose="02020603050405020304" pitchFamily="18" charset="0"/>
                        </a:rPr>
                        <a:t>Question</a:t>
                      </a:r>
                    </a:p>
                  </a:txBody>
                  <a:tcPr anchor="ctr">
                    <a:lnL w="6350">
                      <a:solidFill>
                        <a:srgbClr val="DDD8CC"/>
                      </a:solidFill>
                    </a:lnL>
                    <a:lnR w="6350">
                      <a:solidFill>
                        <a:srgbClr val="DDD8CC"/>
                      </a:solidFill>
                    </a:lnR>
                    <a:lnT w="6350">
                      <a:solidFill>
                        <a:srgbClr val="DDD8CC"/>
                      </a:solidFill>
                    </a:lnT>
                    <a:lnB w="6350">
                      <a:solidFill>
                        <a:srgbClr val="DDD8CC"/>
                      </a:solidFill>
                    </a:lnB>
                    <a:solidFill>
                      <a:srgbClr val="16233B"/>
                    </a:solidFill>
                  </a:tcPr>
                </a:tc>
                <a:tc>
                  <a:txBody>
                    <a:bodyPr/>
                    <a:lstStyle/>
                    <a:p>
                      <a:r>
                        <a:rPr sz="1200" b="1" i="0">
                          <a:solidFill>
                            <a:srgbClr val="F6F4EF"/>
                          </a:solidFill>
                          <a:latin typeface="Times New Roman" panose="02020603050405020304" pitchFamily="18" charset="0"/>
                          <a:ea typeface="IBM Plex Sans"/>
                          <a:cs typeface="Times New Roman" panose="02020603050405020304" pitchFamily="18" charset="0"/>
                        </a:rPr>
                        <a:t>What went wrong on the first run</a:t>
                      </a:r>
                    </a:p>
                  </a:txBody>
                  <a:tcPr anchor="ctr">
                    <a:lnL w="6350">
                      <a:solidFill>
                        <a:srgbClr val="DDD8CC"/>
                      </a:solidFill>
                    </a:lnL>
                    <a:lnR w="6350">
                      <a:solidFill>
                        <a:srgbClr val="DDD8CC"/>
                      </a:solidFill>
                    </a:lnR>
                    <a:lnT w="6350">
                      <a:solidFill>
                        <a:srgbClr val="DDD8CC"/>
                      </a:solidFill>
                    </a:lnT>
                    <a:lnB w="6350">
                      <a:solidFill>
                        <a:srgbClr val="DDD8CC"/>
                      </a:solidFill>
                    </a:lnB>
                    <a:solidFill>
                      <a:srgbClr val="16233B"/>
                    </a:solidFill>
                  </a:tcPr>
                </a:tc>
                <a:tc>
                  <a:txBody>
                    <a:bodyPr/>
                    <a:lstStyle/>
                    <a:p>
                      <a:r>
                        <a:rPr sz="1200" b="1" i="0">
                          <a:solidFill>
                            <a:srgbClr val="F6F4EF"/>
                          </a:solidFill>
                          <a:latin typeface="Times New Roman" panose="02020603050405020304" pitchFamily="18" charset="0"/>
                          <a:ea typeface="IBM Plex Sans"/>
                          <a:cs typeface="Times New Roman" panose="02020603050405020304" pitchFamily="18" charset="0"/>
                        </a:rPr>
                        <a:t>Fix</a:t>
                      </a:r>
                    </a:p>
                  </a:txBody>
                  <a:tcPr anchor="ctr">
                    <a:lnL w="6350">
                      <a:solidFill>
                        <a:srgbClr val="DDD8CC"/>
                      </a:solidFill>
                    </a:lnL>
                    <a:lnR w="6350">
                      <a:solidFill>
                        <a:srgbClr val="DDD8CC"/>
                      </a:solidFill>
                    </a:lnR>
                    <a:lnT w="6350">
                      <a:solidFill>
                        <a:srgbClr val="DDD8CC"/>
                      </a:solidFill>
                    </a:lnT>
                    <a:lnB w="6350">
                      <a:solidFill>
                        <a:srgbClr val="DDD8CC"/>
                      </a:solidFill>
                    </a:lnB>
                    <a:solidFill>
                      <a:srgbClr val="16233B"/>
                    </a:solidFill>
                  </a:tcPr>
                </a:tc>
                <a:extLst>
                  <a:ext uri="{0D108BD9-81ED-4DB2-BD59-A6C34878D82A}">
                    <a16:rowId xmlns:a16="http://schemas.microsoft.com/office/drawing/2014/main" val="10000"/>
                  </a:ext>
                </a:extLst>
              </a:tr>
              <a:tr h="329184">
                <a:tc>
                  <a:txBody>
                    <a:bodyPr/>
                    <a:lstStyle/>
                    <a:p>
                      <a:r>
                        <a:rPr sz="1150" b="1" i="0" dirty="0">
                          <a:solidFill>
                            <a:srgbClr val="16233B"/>
                          </a:solidFill>
                          <a:latin typeface="Times New Roman" panose="02020603050405020304" pitchFamily="18" charset="0"/>
                          <a:ea typeface="IBM Plex Sans"/>
                          <a:cs typeface="Times New Roman" panose="02020603050405020304" pitchFamily="18" charset="0"/>
                        </a:rPr>
                        <a:t>Grey Wall </a:t>
                      </a:r>
                      <a:r>
                        <a:rPr sz="1150" b="1" i="0" dirty="0" err="1">
                          <a:solidFill>
                            <a:srgbClr val="16233B"/>
                          </a:solidFill>
                          <a:latin typeface="Times New Roman" panose="02020603050405020304" pitchFamily="18" charset="0"/>
                          <a:ea typeface="IBM Plex Sans"/>
                          <a:cs typeface="Times New Roman" panose="02020603050405020304" pitchFamily="18" charset="0"/>
                        </a:rPr>
                        <a:t>Veoci</a:t>
                      </a:r>
                      <a:r>
                        <a:rPr sz="1150" b="1" i="0" dirty="0">
                          <a:solidFill>
                            <a:srgbClr val="16233B"/>
                          </a:solidFill>
                          <a:latin typeface="Times New Roman" panose="02020603050405020304" pitchFamily="18" charset="0"/>
                          <a:ea typeface="IBM Plex Sans"/>
                          <a:cs typeface="Times New Roman" panose="02020603050405020304" pitchFamily="18" charset="0"/>
                        </a:rPr>
                        <a:t> notice</a:t>
                      </a:r>
                      <a:r>
                        <a:rPr lang="en-US" sz="1150" b="1" i="0" dirty="0">
                          <a:solidFill>
                            <a:srgbClr val="16233B"/>
                          </a:solidFill>
                          <a:latin typeface="Times New Roman" panose="02020603050405020304" pitchFamily="18" charset="0"/>
                          <a:ea typeface="IBM Plex Sans"/>
                          <a:cs typeface="Times New Roman" panose="02020603050405020304" pitchFamily="18" charset="0"/>
                        </a:rPr>
                        <a:t> period</a:t>
                      </a:r>
                      <a:endParaRPr sz="1150" b="1" i="0" dirty="0">
                        <a:solidFill>
                          <a:srgbClr val="16233B"/>
                        </a:solidFill>
                        <a:latin typeface="Times New Roman" panose="02020603050405020304" pitchFamily="18" charset="0"/>
                        <a:ea typeface="IBM Plex Sans"/>
                        <a:cs typeface="Times New Roman" panose="02020603050405020304" pitchFamily="18" charset="0"/>
                      </a:endParaRPr>
                    </a:p>
                  </a:txBody>
                  <a:tcPr anchor="ctr">
                    <a:lnL w="6350">
                      <a:solidFill>
                        <a:srgbClr val="DDD8CC"/>
                      </a:solidFill>
                    </a:lnL>
                    <a:lnR w="6350">
                      <a:solidFill>
                        <a:srgbClr val="DDD8CC"/>
                      </a:solidFill>
                    </a:lnR>
                    <a:lnT w="6350">
                      <a:solidFill>
                        <a:srgbClr val="DDD8CC"/>
                      </a:solidFill>
                    </a:lnT>
                    <a:lnB w="6350">
                      <a:solidFill>
                        <a:srgbClr val="DDD8CC"/>
                      </a:solidFill>
                    </a:lnB>
                    <a:solidFill>
                      <a:srgbClr val="FCFBF8"/>
                    </a:solidFill>
                  </a:tcPr>
                </a:tc>
                <a:tc>
                  <a:txBody>
                    <a:bodyPr/>
                    <a:lstStyle/>
                    <a:p>
                      <a:r>
                        <a:rPr sz="1150" b="0" i="0" dirty="0">
                          <a:solidFill>
                            <a:srgbClr val="4A5363"/>
                          </a:solidFill>
                          <a:latin typeface="Times New Roman" panose="02020603050405020304" pitchFamily="18" charset="0"/>
                          <a:ea typeface="IBM Plex Sans"/>
                          <a:cs typeface="Times New Roman" panose="02020603050405020304" pitchFamily="18" charset="0"/>
                        </a:rPr>
                        <a:t>Searched a vendor named for its product</a:t>
                      </a:r>
                      <a:r>
                        <a:rPr lang="en-US" sz="1150" b="0" i="0" dirty="0">
                          <a:solidFill>
                            <a:srgbClr val="4A5363"/>
                          </a:solidFill>
                          <a:latin typeface="Times New Roman" panose="02020603050405020304" pitchFamily="18" charset="0"/>
                          <a:ea typeface="IBM Plex Sans"/>
                          <a:cs typeface="Times New Roman" panose="02020603050405020304" pitchFamily="18" charset="0"/>
                        </a:rPr>
                        <a:t>,</a:t>
                      </a:r>
                      <a:r>
                        <a:rPr sz="1150" b="0" i="0" dirty="0">
                          <a:solidFill>
                            <a:srgbClr val="4A5363"/>
                          </a:solidFill>
                          <a:latin typeface="Times New Roman" panose="02020603050405020304" pitchFamily="18" charset="0"/>
                          <a:ea typeface="IBM Plex Sans"/>
                          <a:cs typeface="Times New Roman" panose="02020603050405020304" pitchFamily="18" charset="0"/>
                        </a:rPr>
                        <a:t> found nothing</a:t>
                      </a:r>
                    </a:p>
                  </a:txBody>
                  <a:tcPr anchor="ctr">
                    <a:lnL w="6350">
                      <a:solidFill>
                        <a:srgbClr val="DDD8CC"/>
                      </a:solidFill>
                    </a:lnL>
                    <a:lnR w="6350">
                      <a:solidFill>
                        <a:srgbClr val="DDD8CC"/>
                      </a:solidFill>
                    </a:lnR>
                    <a:lnT w="6350">
                      <a:solidFill>
                        <a:srgbClr val="DDD8CC"/>
                      </a:solidFill>
                    </a:lnT>
                    <a:lnB w="6350">
                      <a:solidFill>
                        <a:srgbClr val="DDD8CC"/>
                      </a:solidFill>
                    </a:lnB>
                    <a:solidFill>
                      <a:srgbClr val="FCFBF8"/>
                    </a:solidFill>
                  </a:tcPr>
                </a:tc>
                <a:tc>
                  <a:txBody>
                    <a:bodyPr/>
                    <a:lstStyle/>
                    <a:p>
                      <a:r>
                        <a:rPr sz="1150" b="0" i="0">
                          <a:solidFill>
                            <a:srgbClr val="4A5363"/>
                          </a:solidFill>
                          <a:latin typeface="Times New Roman" panose="02020603050405020304" pitchFamily="18" charset="0"/>
                          <a:ea typeface="IBM Plex Sans"/>
                          <a:cs typeface="Times New Roman" panose="02020603050405020304" pitchFamily="18" charset="0"/>
                        </a:rPr>
                        <a:t>Vendor-plus-product names match</a:t>
                      </a:r>
                    </a:p>
                  </a:txBody>
                  <a:tcPr anchor="ctr">
                    <a:lnL w="6350">
                      <a:solidFill>
                        <a:srgbClr val="DDD8CC"/>
                      </a:solidFill>
                    </a:lnL>
                    <a:lnR w="6350">
                      <a:solidFill>
                        <a:srgbClr val="DDD8CC"/>
                      </a:solidFill>
                    </a:lnR>
                    <a:lnT w="6350">
                      <a:solidFill>
                        <a:srgbClr val="DDD8CC"/>
                      </a:solidFill>
                    </a:lnT>
                    <a:lnB w="6350">
                      <a:solidFill>
                        <a:srgbClr val="DDD8CC"/>
                      </a:solidFill>
                    </a:lnB>
                    <a:solidFill>
                      <a:srgbClr val="FCFBF8"/>
                    </a:solidFill>
                  </a:tcPr>
                </a:tc>
                <a:extLst>
                  <a:ext uri="{0D108BD9-81ED-4DB2-BD59-A6C34878D82A}">
                    <a16:rowId xmlns:a16="http://schemas.microsoft.com/office/drawing/2014/main" val="10001"/>
                  </a:ext>
                </a:extLst>
              </a:tr>
              <a:tr h="329184">
                <a:tc>
                  <a:txBody>
                    <a:bodyPr/>
                    <a:lstStyle/>
                    <a:p>
                      <a:r>
                        <a:rPr sz="1150" b="1" i="0" dirty="0">
                          <a:solidFill>
                            <a:srgbClr val="16233B"/>
                          </a:solidFill>
                          <a:latin typeface="Times New Roman" panose="02020603050405020304" pitchFamily="18" charset="0"/>
                          <a:ea typeface="IBM Plex Sans"/>
                          <a:cs typeface="Times New Roman" panose="02020603050405020304" pitchFamily="18" charset="0"/>
                        </a:rPr>
                        <a:t>Appin Associates </a:t>
                      </a:r>
                      <a:r>
                        <a:rPr lang="en-US" sz="1150" b="1" i="0" dirty="0">
                          <a:solidFill>
                            <a:srgbClr val="16233B"/>
                          </a:solidFill>
                          <a:latin typeface="Times New Roman" panose="02020603050405020304" pitchFamily="18" charset="0"/>
                          <a:ea typeface="IBM Plex Sans"/>
                          <a:cs typeface="Times New Roman" panose="02020603050405020304" pitchFamily="18" charset="0"/>
                        </a:rPr>
                        <a:t>total </a:t>
                      </a:r>
                      <a:r>
                        <a:rPr sz="1150" b="1" i="0" dirty="0">
                          <a:solidFill>
                            <a:srgbClr val="16233B"/>
                          </a:solidFill>
                          <a:latin typeface="Times New Roman" panose="02020603050405020304" pitchFamily="18" charset="0"/>
                          <a:ea typeface="IBM Plex Sans"/>
                          <a:cs typeface="Times New Roman" panose="02020603050405020304" pitchFamily="18" charset="0"/>
                        </a:rPr>
                        <a:t>cost</a:t>
                      </a:r>
                    </a:p>
                  </a:txBody>
                  <a:tcPr anchor="ctr">
                    <a:lnL w="6350">
                      <a:solidFill>
                        <a:srgbClr val="DDD8CC"/>
                      </a:solidFill>
                    </a:lnL>
                    <a:lnR w="6350">
                      <a:solidFill>
                        <a:srgbClr val="DDD8CC"/>
                      </a:solidFill>
                    </a:lnR>
                    <a:lnT w="6350">
                      <a:solidFill>
                        <a:srgbClr val="DDD8CC"/>
                      </a:solidFill>
                    </a:lnT>
                    <a:lnB w="6350">
                      <a:solidFill>
                        <a:srgbClr val="DDD8CC"/>
                      </a:solidFill>
                    </a:lnB>
                    <a:solidFill>
                      <a:srgbClr val="ECE8DF"/>
                    </a:solidFill>
                  </a:tcPr>
                </a:tc>
                <a:tc>
                  <a:txBody>
                    <a:bodyPr/>
                    <a:lstStyle/>
                    <a:p>
                      <a:r>
                        <a:rPr lang="en-US" sz="1150" b="0" i="0" dirty="0">
                          <a:solidFill>
                            <a:srgbClr val="4A5363"/>
                          </a:solidFill>
                          <a:latin typeface="Times New Roman" panose="02020603050405020304" pitchFamily="18" charset="0"/>
                          <a:ea typeface="IBM Plex Sans"/>
                          <a:cs typeface="Times New Roman" panose="02020603050405020304" pitchFamily="18" charset="0"/>
                        </a:rPr>
                        <a:t>Fuzzy matching resulted in incorrect aggregate award value</a:t>
                      </a:r>
                      <a:endParaRPr sz="1150" b="0" i="0" dirty="0">
                        <a:solidFill>
                          <a:srgbClr val="4A5363"/>
                        </a:solidFill>
                        <a:latin typeface="Times New Roman" panose="02020603050405020304" pitchFamily="18" charset="0"/>
                        <a:ea typeface="IBM Plex Sans"/>
                        <a:cs typeface="Times New Roman" panose="02020603050405020304" pitchFamily="18" charset="0"/>
                      </a:endParaRPr>
                    </a:p>
                  </a:txBody>
                  <a:tcPr anchor="ctr">
                    <a:lnL w="6350">
                      <a:solidFill>
                        <a:srgbClr val="DDD8CC"/>
                      </a:solidFill>
                    </a:lnL>
                    <a:lnR w="6350">
                      <a:solidFill>
                        <a:srgbClr val="DDD8CC"/>
                      </a:solidFill>
                    </a:lnR>
                    <a:lnT w="6350">
                      <a:solidFill>
                        <a:srgbClr val="DDD8CC"/>
                      </a:solidFill>
                    </a:lnT>
                    <a:lnB w="6350">
                      <a:solidFill>
                        <a:srgbClr val="DDD8CC"/>
                      </a:solidFill>
                    </a:lnB>
                    <a:solidFill>
                      <a:srgbClr val="ECE8DF"/>
                    </a:solidFill>
                  </a:tcPr>
                </a:tc>
                <a:tc>
                  <a:txBody>
                    <a:bodyPr/>
                    <a:lstStyle/>
                    <a:p>
                      <a:r>
                        <a:rPr sz="1150" b="0" i="0">
                          <a:solidFill>
                            <a:srgbClr val="4A5363"/>
                          </a:solidFill>
                          <a:latin typeface="Times New Roman" panose="02020603050405020304" pitchFamily="18" charset="0"/>
                          <a:ea typeface="IBM Plex Sans"/>
                          <a:cs typeface="Times New Roman" panose="02020603050405020304" pitchFamily="18" charset="0"/>
                        </a:rPr>
                        <a:t>Names match word for word</a:t>
                      </a:r>
                    </a:p>
                  </a:txBody>
                  <a:tcPr anchor="ctr">
                    <a:lnL w="6350">
                      <a:solidFill>
                        <a:srgbClr val="DDD8CC"/>
                      </a:solidFill>
                    </a:lnL>
                    <a:lnR w="6350">
                      <a:solidFill>
                        <a:srgbClr val="DDD8CC"/>
                      </a:solidFill>
                    </a:lnR>
                    <a:lnT w="6350">
                      <a:solidFill>
                        <a:srgbClr val="DDD8CC"/>
                      </a:solidFill>
                    </a:lnT>
                    <a:lnB w="6350">
                      <a:solidFill>
                        <a:srgbClr val="DDD8CC"/>
                      </a:solidFill>
                    </a:lnB>
                    <a:solidFill>
                      <a:srgbClr val="ECE8DF"/>
                    </a:solidFill>
                  </a:tcPr>
                </a:tc>
                <a:extLst>
                  <a:ext uri="{0D108BD9-81ED-4DB2-BD59-A6C34878D82A}">
                    <a16:rowId xmlns:a16="http://schemas.microsoft.com/office/drawing/2014/main" val="10002"/>
                  </a:ext>
                </a:extLst>
              </a:tr>
              <a:tr h="329184">
                <a:tc>
                  <a:txBody>
                    <a:bodyPr/>
                    <a:lstStyle/>
                    <a:p>
                      <a:r>
                        <a:rPr sz="1150" b="1" i="0" dirty="0">
                          <a:solidFill>
                            <a:srgbClr val="16233B"/>
                          </a:solidFill>
                          <a:latin typeface="Times New Roman" panose="02020603050405020304" pitchFamily="18" charset="0"/>
                          <a:ea typeface="IBM Plex Sans"/>
                          <a:cs typeface="Times New Roman" panose="02020603050405020304" pitchFamily="18" charset="0"/>
                        </a:rPr>
                        <a:t>Motorola tower leases</a:t>
                      </a:r>
                    </a:p>
                  </a:txBody>
                  <a:tcPr anchor="ctr">
                    <a:lnL w="6350">
                      <a:solidFill>
                        <a:srgbClr val="DDD8CC"/>
                      </a:solidFill>
                    </a:lnL>
                    <a:lnR w="6350">
                      <a:solidFill>
                        <a:srgbClr val="DDD8CC"/>
                      </a:solidFill>
                    </a:lnR>
                    <a:lnT w="6350">
                      <a:solidFill>
                        <a:srgbClr val="DDD8CC"/>
                      </a:solidFill>
                    </a:lnT>
                    <a:lnB w="6350">
                      <a:solidFill>
                        <a:srgbClr val="DDD8CC"/>
                      </a:solidFill>
                    </a:lnB>
                    <a:solidFill>
                      <a:srgbClr val="FCFBF8"/>
                    </a:solidFill>
                  </a:tcPr>
                </a:tc>
                <a:tc>
                  <a:txBody>
                    <a:bodyPr/>
                    <a:lstStyle/>
                    <a:p>
                      <a:r>
                        <a:rPr sz="1150" b="0" i="0" dirty="0">
                          <a:solidFill>
                            <a:srgbClr val="4A5363"/>
                          </a:solidFill>
                          <a:latin typeface="Times New Roman" panose="02020603050405020304" pitchFamily="18" charset="0"/>
                          <a:ea typeface="IBM Plex Sans"/>
                          <a:cs typeface="Times New Roman" panose="02020603050405020304" pitchFamily="18" charset="0"/>
                        </a:rPr>
                        <a:t>A lease filed as an “agreement” was filtered out</a:t>
                      </a:r>
                    </a:p>
                  </a:txBody>
                  <a:tcPr anchor="ctr">
                    <a:lnL w="6350">
                      <a:solidFill>
                        <a:srgbClr val="DDD8CC"/>
                      </a:solidFill>
                    </a:lnL>
                    <a:lnR w="6350">
                      <a:solidFill>
                        <a:srgbClr val="DDD8CC"/>
                      </a:solidFill>
                    </a:lnR>
                    <a:lnT w="6350">
                      <a:solidFill>
                        <a:srgbClr val="DDD8CC"/>
                      </a:solidFill>
                    </a:lnT>
                    <a:lnB w="6350">
                      <a:solidFill>
                        <a:srgbClr val="DDD8CC"/>
                      </a:solidFill>
                    </a:lnB>
                    <a:solidFill>
                      <a:srgbClr val="FCFBF8"/>
                    </a:solidFill>
                  </a:tcPr>
                </a:tc>
                <a:tc>
                  <a:txBody>
                    <a:bodyPr/>
                    <a:lstStyle/>
                    <a:p>
                      <a:r>
                        <a:rPr sz="1150" b="0" i="0">
                          <a:solidFill>
                            <a:srgbClr val="4A5363"/>
                          </a:solidFill>
                          <a:latin typeface="Times New Roman" panose="02020603050405020304" pitchFamily="18" charset="0"/>
                          <a:ea typeface="IBM Plex Sans"/>
                          <a:cs typeface="Times New Roman" panose="02020603050405020304" pitchFamily="18" charset="0"/>
                        </a:rPr>
                        <a:t>Anything titled “lease” is stored as a lease</a:t>
                      </a:r>
                    </a:p>
                  </a:txBody>
                  <a:tcPr anchor="ctr">
                    <a:lnL w="6350">
                      <a:solidFill>
                        <a:srgbClr val="DDD8CC"/>
                      </a:solidFill>
                    </a:lnL>
                    <a:lnR w="6350">
                      <a:solidFill>
                        <a:srgbClr val="DDD8CC"/>
                      </a:solidFill>
                    </a:lnR>
                    <a:lnT w="6350">
                      <a:solidFill>
                        <a:srgbClr val="DDD8CC"/>
                      </a:solidFill>
                    </a:lnT>
                    <a:lnB w="6350">
                      <a:solidFill>
                        <a:srgbClr val="DDD8CC"/>
                      </a:solidFill>
                    </a:lnB>
                    <a:solidFill>
                      <a:srgbClr val="FCFBF8"/>
                    </a:solidFill>
                  </a:tcPr>
                </a:tc>
                <a:extLst>
                  <a:ext uri="{0D108BD9-81ED-4DB2-BD59-A6C34878D82A}">
                    <a16:rowId xmlns:a16="http://schemas.microsoft.com/office/drawing/2014/main" val="10003"/>
                  </a:ext>
                </a:extLst>
              </a:tr>
              <a:tr h="329184">
                <a:tc>
                  <a:txBody>
                    <a:bodyPr/>
                    <a:lstStyle/>
                    <a:p>
                      <a:r>
                        <a:rPr sz="1150" b="1" i="0" dirty="0">
                          <a:solidFill>
                            <a:srgbClr val="16233B"/>
                          </a:solidFill>
                          <a:latin typeface="Times New Roman" panose="02020603050405020304" pitchFamily="18" charset="0"/>
                          <a:ea typeface="IBM Plex Sans"/>
                          <a:cs typeface="Times New Roman" panose="02020603050405020304" pitchFamily="18" charset="0"/>
                        </a:rPr>
                        <a:t>Starbucks </a:t>
                      </a:r>
                      <a:r>
                        <a:rPr lang="en-US" sz="1150" b="1" i="0" dirty="0">
                          <a:solidFill>
                            <a:srgbClr val="16233B"/>
                          </a:solidFill>
                          <a:latin typeface="Times New Roman" panose="02020603050405020304" pitchFamily="18" charset="0"/>
                          <a:ea typeface="IBM Plex Sans"/>
                          <a:cs typeface="Times New Roman" panose="02020603050405020304" pitchFamily="18" charset="0"/>
                        </a:rPr>
                        <a:t>agreements </a:t>
                      </a:r>
                      <a:r>
                        <a:rPr sz="1150" b="1" i="0" dirty="0">
                          <a:solidFill>
                            <a:srgbClr val="16233B"/>
                          </a:solidFill>
                          <a:latin typeface="Times New Roman" panose="02020603050405020304" pitchFamily="18" charset="0"/>
                          <a:ea typeface="IBM Plex Sans"/>
                          <a:cs typeface="Times New Roman" panose="02020603050405020304" pitchFamily="18" charset="0"/>
                        </a:rPr>
                        <a:t>(none exists)</a:t>
                      </a:r>
                    </a:p>
                  </a:txBody>
                  <a:tcPr anchor="ctr">
                    <a:lnL w="6350">
                      <a:solidFill>
                        <a:srgbClr val="DDD8CC"/>
                      </a:solidFill>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a:solidFill>
                        <a:srgbClr val="DDD8CC"/>
                      </a:solidFill>
                    </a:lnB>
                    <a:solidFill>
                      <a:srgbClr val="FCFBF8"/>
                    </a:solidFill>
                  </a:tcPr>
                </a:tc>
                <a:tc>
                  <a:txBody>
                    <a:bodyPr/>
                    <a:lstStyle/>
                    <a:p>
                      <a:r>
                        <a:rPr sz="1150" b="0" i="0" dirty="0">
                          <a:solidFill>
                            <a:srgbClr val="4A5363"/>
                          </a:solidFill>
                          <a:latin typeface="Times New Roman" panose="02020603050405020304" pitchFamily="18" charset="0"/>
                          <a:ea typeface="IBM Plex Sans"/>
                          <a:cs typeface="Times New Roman" panose="02020603050405020304" pitchFamily="18" charset="0"/>
                        </a:rPr>
                        <a:t>Showed another vendor’s price clause as </a:t>
                      </a:r>
                      <a:r>
                        <a:rPr lang="en-US" sz="1150" b="0" i="0" dirty="0">
                          <a:solidFill>
                            <a:srgbClr val="4A5363"/>
                          </a:solidFill>
                          <a:latin typeface="Times New Roman" panose="02020603050405020304" pitchFamily="18" charset="0"/>
                          <a:ea typeface="IBM Plex Sans"/>
                          <a:cs typeface="Times New Roman" panose="02020603050405020304" pitchFamily="18" charset="0"/>
                        </a:rPr>
                        <a:t>"</a:t>
                      </a:r>
                      <a:r>
                        <a:rPr sz="1150" b="0" i="0" dirty="0">
                          <a:solidFill>
                            <a:srgbClr val="4A5363"/>
                          </a:solidFill>
                          <a:latin typeface="Times New Roman" panose="02020603050405020304" pitchFamily="18" charset="0"/>
                          <a:ea typeface="IBM Plex Sans"/>
                          <a:cs typeface="Times New Roman" panose="02020603050405020304" pitchFamily="18" charset="0"/>
                        </a:rPr>
                        <a:t>Starbucks</a:t>
                      </a:r>
                      <a:r>
                        <a:rPr lang="en-US" sz="1150" b="0" i="0" dirty="0">
                          <a:solidFill>
                            <a:srgbClr val="4A5363"/>
                          </a:solidFill>
                          <a:latin typeface="Times New Roman" panose="02020603050405020304" pitchFamily="18" charset="0"/>
                          <a:ea typeface="IBM Plex Sans"/>
                          <a:cs typeface="Times New Roman" panose="02020603050405020304" pitchFamily="18" charset="0"/>
                        </a:rPr>
                        <a:t>"</a:t>
                      </a:r>
                      <a:endParaRPr sz="1150" b="0" i="0" dirty="0">
                        <a:solidFill>
                          <a:srgbClr val="4A5363"/>
                        </a:solidFill>
                        <a:latin typeface="Times New Roman" panose="02020603050405020304" pitchFamily="18" charset="0"/>
                        <a:ea typeface="IBM Plex Sans"/>
                        <a:cs typeface="Times New Roman" panose="02020603050405020304" pitchFamily="18" charset="0"/>
                      </a:endParaRPr>
                    </a:p>
                  </a:txBody>
                  <a:tcPr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a:solidFill>
                        <a:srgbClr val="DDD8CC"/>
                      </a:solidFill>
                    </a:lnB>
                    <a:solidFill>
                      <a:srgbClr val="FCFBF8"/>
                    </a:solidFill>
                  </a:tcPr>
                </a:tc>
                <a:tc>
                  <a:txBody>
                    <a:bodyPr/>
                    <a:lstStyle/>
                    <a:p>
                      <a:r>
                        <a:rPr sz="1150" b="0" i="0" dirty="0">
                          <a:solidFill>
                            <a:srgbClr val="4A5363"/>
                          </a:solidFill>
                          <a:latin typeface="Times New Roman" panose="02020603050405020304" pitchFamily="18" charset="0"/>
                          <a:ea typeface="IBM Plex Sans"/>
                          <a:cs typeface="Times New Roman" panose="02020603050405020304" pitchFamily="18" charset="0"/>
                        </a:rPr>
                        <a:t>Unknown names: search only files naming them</a:t>
                      </a:r>
                    </a:p>
                  </a:txBody>
                  <a:tcPr anchor="ctr">
                    <a:lnL w="6350" cap="flat" cmpd="sng" algn="ctr">
                      <a:solidFill>
                        <a:srgbClr val="DDD8CC"/>
                      </a:solidFill>
                      <a:prstDash val="solid"/>
                      <a:round/>
                      <a:headEnd type="none" w="med" len="med"/>
                      <a:tailEnd type="none" w="med" len="med"/>
                    </a:lnL>
                    <a:lnR w="6350">
                      <a:solidFill>
                        <a:srgbClr val="DDD8CC"/>
                      </a:solidFill>
                    </a:lnR>
                    <a:lnT w="6350" cap="flat" cmpd="sng" algn="ctr">
                      <a:solidFill>
                        <a:srgbClr val="DDD8CC"/>
                      </a:solidFill>
                      <a:prstDash val="solid"/>
                      <a:round/>
                      <a:headEnd type="none" w="med" len="med"/>
                      <a:tailEnd type="none" w="med" len="med"/>
                    </a:lnT>
                    <a:lnB w="6350">
                      <a:solidFill>
                        <a:srgbClr val="DDD8CC"/>
                      </a:solidFill>
                    </a:lnB>
                    <a:solidFill>
                      <a:srgbClr val="FCFBF8"/>
                    </a:solidFill>
                  </a:tcPr>
                </a:tc>
                <a:extLst>
                  <a:ext uri="{0D108BD9-81ED-4DB2-BD59-A6C34878D82A}">
                    <a16:rowId xmlns:a16="http://schemas.microsoft.com/office/drawing/2014/main" val="10005"/>
                  </a:ext>
                </a:extLst>
              </a:tr>
              <a:tr h="329184">
                <a:tc>
                  <a:txBody>
                    <a:bodyPr/>
                    <a:lstStyle/>
                    <a:p>
                      <a:r>
                        <a:rPr sz="1150" b="1" i="0" dirty="0">
                          <a:solidFill>
                            <a:srgbClr val="16233B"/>
                          </a:solidFill>
                          <a:latin typeface="Times New Roman" panose="02020603050405020304" pitchFamily="18" charset="0"/>
                          <a:ea typeface="IBM Plex Sans"/>
                          <a:cs typeface="Times New Roman" panose="02020603050405020304" pitchFamily="18" charset="0"/>
                        </a:rPr>
                        <a:t>Axon auto-renewal</a:t>
                      </a:r>
                      <a:r>
                        <a:rPr lang="en-US" sz="1150" b="1" i="0" dirty="0">
                          <a:solidFill>
                            <a:srgbClr val="16233B"/>
                          </a:solidFill>
                          <a:latin typeface="Times New Roman" panose="02020603050405020304" pitchFamily="18" charset="0"/>
                          <a:ea typeface="IBM Plex Sans"/>
                          <a:cs typeface="Times New Roman" panose="02020603050405020304" pitchFamily="18" charset="0"/>
                        </a:rPr>
                        <a:t> definition</a:t>
                      </a:r>
                      <a:endParaRPr sz="1150" b="1" i="0" dirty="0">
                        <a:solidFill>
                          <a:srgbClr val="16233B"/>
                        </a:solidFill>
                        <a:latin typeface="Times New Roman" panose="02020603050405020304" pitchFamily="18" charset="0"/>
                        <a:ea typeface="IBM Plex Sans"/>
                        <a:cs typeface="Times New Roman" panose="02020603050405020304" pitchFamily="18" charset="0"/>
                      </a:endParaRPr>
                    </a:p>
                  </a:txBody>
                  <a:tcPr anchor="ctr">
                    <a:lnL w="6350">
                      <a:solidFill>
                        <a:srgbClr val="DDD8CC"/>
                      </a:solidFill>
                    </a:lnL>
                    <a:lnR w="6350">
                      <a:solidFill>
                        <a:srgbClr val="DDD8CC"/>
                      </a:solidFill>
                    </a:lnR>
                    <a:lnT w="6350">
                      <a:solidFill>
                        <a:srgbClr val="DDD8CC"/>
                      </a:solidFill>
                    </a:lnT>
                    <a:lnB w="6350">
                      <a:solidFill>
                        <a:srgbClr val="DDD8CC"/>
                      </a:solidFill>
                    </a:lnB>
                    <a:solidFill>
                      <a:srgbClr val="ECE8DF"/>
                    </a:solidFill>
                  </a:tcPr>
                </a:tc>
                <a:tc>
                  <a:txBody>
                    <a:bodyPr/>
                    <a:lstStyle/>
                    <a:p>
                      <a:r>
                        <a:rPr sz="1150" b="0" i="0">
                          <a:solidFill>
                            <a:srgbClr val="4A5363"/>
                          </a:solidFill>
                          <a:latin typeface="Times New Roman" panose="02020603050405020304" pitchFamily="18" charset="0"/>
                          <a:ea typeface="IBM Plex Sans"/>
                          <a:cs typeface="Times New Roman" panose="02020603050405020304" pitchFamily="18" charset="0"/>
                        </a:rPr>
                        <a:t>Missed “will automatically renew” on p.97 of 129</a:t>
                      </a:r>
                    </a:p>
                  </a:txBody>
                  <a:tcPr anchor="ctr">
                    <a:lnL w="6350">
                      <a:solidFill>
                        <a:srgbClr val="DDD8CC"/>
                      </a:solidFill>
                    </a:lnL>
                    <a:lnR w="6350">
                      <a:solidFill>
                        <a:srgbClr val="DDD8CC"/>
                      </a:solidFill>
                    </a:lnR>
                    <a:lnT w="6350">
                      <a:solidFill>
                        <a:srgbClr val="DDD8CC"/>
                      </a:solidFill>
                    </a:lnT>
                    <a:lnB w="6350">
                      <a:solidFill>
                        <a:srgbClr val="DDD8CC"/>
                      </a:solidFill>
                    </a:lnB>
                    <a:solidFill>
                      <a:srgbClr val="ECE8DF"/>
                    </a:solidFill>
                  </a:tcPr>
                </a:tc>
                <a:tc>
                  <a:txBody>
                    <a:bodyPr/>
                    <a:lstStyle/>
                    <a:p>
                      <a:r>
                        <a:rPr lang="en-US" sz="1150" b="0" i="0" dirty="0">
                          <a:solidFill>
                            <a:srgbClr val="4A5363"/>
                          </a:solidFill>
                          <a:latin typeface="Times New Roman" panose="02020603050405020304" pitchFamily="18" charset="0"/>
                          <a:ea typeface="IBM Plex Sans"/>
                          <a:cs typeface="Times New Roman" panose="02020603050405020304" pitchFamily="18" charset="0"/>
                        </a:rPr>
                        <a:t>Re-ran extraction with that</a:t>
                      </a:r>
                      <a:r>
                        <a:rPr sz="1150" b="0" i="0" dirty="0">
                          <a:solidFill>
                            <a:srgbClr val="4A5363"/>
                          </a:solidFill>
                          <a:latin typeface="Times New Roman" panose="02020603050405020304" pitchFamily="18" charset="0"/>
                          <a:ea typeface="IBM Plex Sans"/>
                          <a:cs typeface="Times New Roman" panose="02020603050405020304" pitchFamily="18" charset="0"/>
                        </a:rPr>
                        <a:t> wording </a:t>
                      </a:r>
                      <a:r>
                        <a:rPr lang="en-US" sz="1150" b="0" i="0" dirty="0">
                          <a:solidFill>
                            <a:srgbClr val="4A5363"/>
                          </a:solidFill>
                          <a:latin typeface="Times New Roman" panose="02020603050405020304" pitchFamily="18" charset="0"/>
                          <a:ea typeface="IBM Plex Sans"/>
                          <a:cs typeface="Times New Roman" panose="02020603050405020304" pitchFamily="18" charset="0"/>
                        </a:rPr>
                        <a:t>included</a:t>
                      </a:r>
                      <a:endParaRPr sz="1150" b="0" i="0" dirty="0">
                        <a:solidFill>
                          <a:srgbClr val="4A5363"/>
                        </a:solidFill>
                        <a:latin typeface="Times New Roman" panose="02020603050405020304" pitchFamily="18" charset="0"/>
                        <a:ea typeface="IBM Plex Sans"/>
                        <a:cs typeface="Times New Roman" panose="02020603050405020304" pitchFamily="18" charset="0"/>
                      </a:endParaRPr>
                    </a:p>
                  </a:txBody>
                  <a:tcPr anchor="ctr">
                    <a:lnL w="6350">
                      <a:solidFill>
                        <a:srgbClr val="DDD8CC"/>
                      </a:solidFill>
                    </a:lnL>
                    <a:lnR w="6350">
                      <a:solidFill>
                        <a:srgbClr val="DDD8CC"/>
                      </a:solidFill>
                    </a:lnR>
                    <a:lnT w="6350">
                      <a:solidFill>
                        <a:srgbClr val="DDD8CC"/>
                      </a:solidFill>
                    </a:lnT>
                    <a:lnB w="6350">
                      <a:solidFill>
                        <a:srgbClr val="DDD8CC"/>
                      </a:solidFill>
                    </a:lnB>
                    <a:solidFill>
                      <a:srgbClr val="ECE8D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ct val="100000"/>
              </a:lnSpc>
              <a:buNone/>
            </a:pPr>
            <a:r>
              <a:rPr lang="en-US" sz="1200" b="1" kern="0" spc="100" dirty="0">
                <a:solidFill>
                  <a:srgbClr val="A6461F"/>
                </a:solidFill>
                <a:latin typeface="Times New Roman" panose="02020603050405020304" pitchFamily="18" charset="0"/>
                <a:ea typeface="IBM Plex Sans" pitchFamily="34" charset="-122"/>
                <a:cs typeface="Times New Roman" panose="02020603050405020304" pitchFamily="18" charset="0"/>
              </a:rPr>
              <a:t>Hosting and Claude Tag (Teams runs similarly, and separate email job with </a:t>
            </a:r>
            <a:r>
              <a:rPr lang="en-US" sz="1200" b="1" kern="0" spc="100" dirty="0" err="1">
                <a:solidFill>
                  <a:srgbClr val="A6461F"/>
                </a:solidFill>
                <a:latin typeface="Times New Roman" panose="02020603050405020304" pitchFamily="18" charset="0"/>
                <a:ea typeface="IBM Plex Sans" pitchFamily="34" charset="-122"/>
                <a:cs typeface="Times New Roman" panose="02020603050405020304" pitchFamily="18" charset="0"/>
              </a:rPr>
              <a:t>github</a:t>
            </a:r>
            <a:r>
              <a:rPr lang="en-US" sz="1200" b="1" kern="0" spc="100" dirty="0">
                <a:solidFill>
                  <a:srgbClr val="A6461F"/>
                </a:solidFill>
                <a:latin typeface="Times New Roman" panose="02020603050405020304" pitchFamily="18" charset="0"/>
                <a:ea typeface="IBM Plex Sans" pitchFamily="34" charset="-122"/>
                <a:cs typeface="Times New Roman" panose="02020603050405020304" pitchFamily="18" charset="0"/>
              </a:rPr>
              <a:t> actions - contracts remind function)</a:t>
            </a:r>
            <a:endParaRPr lang="en-US" sz="1200" dirty="0">
              <a:latin typeface="Times New Roman" panose="02020603050405020304" pitchFamily="18" charset="0"/>
              <a:cs typeface="Times New Roman" panose="02020603050405020304" pitchFamily="18" charset="0"/>
            </a:endParaRPr>
          </a:p>
        </p:txBody>
      </p:sp>
      <p:sp>
        <p:nvSpPr>
          <p:cNvPr id="3" name="Text 1"/>
          <p:cNvSpPr>
            <a:spLocks noGrp="1"/>
          </p:cNvSpPr>
          <p:nvPr>
            <p:ph type="title"/>
          </p:nvPr>
        </p:nvSpPr>
        <p:spPr>
          <a:xfrm>
            <a:off x="812800" y="12293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6233B"/>
                </a:solidFill>
                <a:latin typeface="Times New Roman" panose="02020603050405020304" pitchFamily="18" charset="0"/>
                <a:ea typeface="Source Serif 4" pitchFamily="18" charset="-122"/>
                <a:cs typeface="Times New Roman" panose="02020603050405020304" pitchFamily="18" charset="0"/>
              </a:rPr>
              <a:t>How it runs</a:t>
            </a:r>
            <a:endParaRPr lang="en-US" sz="3600" dirty="0">
              <a:latin typeface="Times New Roman" panose="02020603050405020304" pitchFamily="18" charset="0"/>
              <a:cs typeface="Times New Roman" panose="02020603050405020304" pitchFamily="18" charset="0"/>
            </a:endParaRPr>
          </a:p>
        </p:txBody>
      </p:sp>
      <p:sp>
        <p:nvSpPr>
          <p:cNvPr id="23" name="Browser card"/>
          <p:cNvSpPr/>
          <p:nvPr/>
        </p:nvSpPr>
        <p:spPr>
          <a:xfrm>
            <a:off x="813816" y="1965960"/>
            <a:ext cx="2057400" cy="1051560"/>
          </a:xfrm>
          <a:prstGeom prst="roundRect">
            <a:avLst>
              <a:gd name="adj" fmla="val 4000"/>
            </a:avLst>
          </a:prstGeom>
          <a:solidFill>
            <a:srgbClr val="FCFBF8"/>
          </a:solidFill>
          <a:ln w="6350">
            <a:solidFill>
              <a:srgbClr val="DDD8CC"/>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4" name="TextBox 23"/>
          <p:cNvSpPr txBox="1"/>
          <p:nvPr/>
        </p:nvSpPr>
        <p:spPr>
          <a:xfrm>
            <a:off x="996696" y="2103120"/>
            <a:ext cx="1691640" cy="244106"/>
          </a:xfrm>
          <a:prstGeom prst="rect">
            <a:avLst/>
          </a:prstGeom>
          <a:noFill/>
        </p:spPr>
        <p:txBody>
          <a:bodyPr wrap="square" lIns="0" tIns="0" rIns="0" bIns="0" anchor="t">
            <a:spAutoFit/>
          </a:bodyPr>
          <a:lstStyle/>
          <a:p>
            <a:pPr>
              <a:lnSpc>
                <a:spcPct val="125000"/>
              </a:lnSpc>
              <a:buNone/>
            </a:pPr>
            <a:r>
              <a:rPr sz="1400" b="1" i="0">
                <a:solidFill>
                  <a:srgbClr val="16233B"/>
                </a:solidFill>
                <a:latin typeface="Times New Roman" panose="02020603050405020304" pitchFamily="18" charset="0"/>
                <a:ea typeface="IBM Plex Sans"/>
                <a:cs typeface="Times New Roman" panose="02020603050405020304" pitchFamily="18" charset="0"/>
              </a:rPr>
              <a:t>Web app</a:t>
            </a:r>
          </a:p>
        </p:txBody>
      </p:sp>
      <p:sp>
        <p:nvSpPr>
          <p:cNvPr id="25" name="TextBox 24"/>
          <p:cNvSpPr txBox="1"/>
          <p:nvPr/>
        </p:nvSpPr>
        <p:spPr>
          <a:xfrm>
            <a:off x="996696" y="2395728"/>
            <a:ext cx="1691640" cy="391261"/>
          </a:xfrm>
          <a:prstGeom prst="rect">
            <a:avLst/>
          </a:prstGeom>
          <a:noFill/>
        </p:spPr>
        <p:txBody>
          <a:bodyPr wrap="square" lIns="0" tIns="0" rIns="0" bIns="0" anchor="t">
            <a:spAutoFit/>
          </a:bodyPr>
          <a:lstStyle/>
          <a:p>
            <a:pPr>
              <a:lnSpc>
                <a:spcPct val="120000"/>
              </a:lnSpc>
              <a:buNone/>
            </a:pPr>
            <a:r>
              <a:rPr lang="en-US" sz="1100" b="0" i="0" dirty="0">
                <a:solidFill>
                  <a:srgbClr val="4A5363"/>
                </a:solidFill>
                <a:latin typeface="Times New Roman" panose="02020603050405020304" pitchFamily="18" charset="0"/>
                <a:ea typeface="IBM Plex Sans"/>
                <a:cs typeface="Times New Roman" panose="02020603050405020304" pitchFamily="18" charset="0"/>
              </a:rPr>
              <a:t>S</a:t>
            </a:r>
            <a:r>
              <a:rPr sz="1100" b="0" i="0" dirty="0">
                <a:solidFill>
                  <a:srgbClr val="4A5363"/>
                </a:solidFill>
                <a:latin typeface="Times New Roman" panose="02020603050405020304" pitchFamily="18" charset="0"/>
                <a:ea typeface="IBM Plex Sans"/>
                <a:cs typeface="Times New Roman" panose="02020603050405020304" pitchFamily="18" charset="0"/>
              </a:rPr>
              <a:t>ign in with a username and password</a:t>
            </a:r>
          </a:p>
        </p:txBody>
      </p:sp>
      <p:sp>
        <p:nvSpPr>
          <p:cNvPr id="26" name="Claude Tag card"/>
          <p:cNvSpPr/>
          <p:nvPr/>
        </p:nvSpPr>
        <p:spPr>
          <a:xfrm>
            <a:off x="813816" y="3246120"/>
            <a:ext cx="2057400" cy="2240280"/>
          </a:xfrm>
          <a:prstGeom prst="roundRect">
            <a:avLst>
              <a:gd name="adj" fmla="val 4000"/>
            </a:avLst>
          </a:prstGeom>
          <a:solidFill>
            <a:srgbClr val="FCFBF8"/>
          </a:solidFill>
          <a:ln w="6350">
            <a:solidFill>
              <a:srgbClr val="DDD8CC"/>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7" name="TextBox 26"/>
          <p:cNvSpPr txBox="1"/>
          <p:nvPr/>
        </p:nvSpPr>
        <p:spPr>
          <a:xfrm>
            <a:off x="996696" y="3383280"/>
            <a:ext cx="1691640" cy="247568"/>
          </a:xfrm>
          <a:prstGeom prst="rect">
            <a:avLst/>
          </a:prstGeom>
          <a:noFill/>
        </p:spPr>
        <p:txBody>
          <a:bodyPr wrap="square" lIns="0" tIns="0" rIns="0" bIns="0" anchor="t">
            <a:spAutoFit/>
          </a:bodyPr>
          <a:lstStyle/>
          <a:p>
            <a:pPr>
              <a:lnSpc>
                <a:spcPct val="125000"/>
              </a:lnSpc>
              <a:buNone/>
            </a:pPr>
            <a:r>
              <a:rPr sz="1400" b="1" i="0" dirty="0">
                <a:solidFill>
                  <a:srgbClr val="16233B"/>
                </a:solidFill>
                <a:latin typeface="Times New Roman" panose="02020603050405020304" pitchFamily="18" charset="0"/>
                <a:ea typeface="IBM Plex Sans"/>
                <a:cs typeface="Times New Roman" panose="02020603050405020304" pitchFamily="18" charset="0"/>
              </a:rPr>
              <a:t>Slack </a:t>
            </a:r>
            <a:r>
              <a:rPr lang="en-US" sz="1400" b="1" i="0" dirty="0">
                <a:solidFill>
                  <a:srgbClr val="16233B"/>
                </a:solidFill>
                <a:latin typeface="Times New Roman" panose="02020603050405020304" pitchFamily="18" charset="0"/>
                <a:ea typeface="IBM Plex Sans"/>
                <a:cs typeface="Times New Roman" panose="02020603050405020304" pitchFamily="18" charset="0"/>
              </a:rPr>
              <a:t>/</a:t>
            </a:r>
            <a:r>
              <a:rPr sz="1400" b="1" i="0" dirty="0">
                <a:solidFill>
                  <a:srgbClr val="16233B"/>
                </a:solidFill>
                <a:latin typeface="Times New Roman" panose="02020603050405020304" pitchFamily="18" charset="0"/>
                <a:ea typeface="IBM Plex Sans"/>
                <a:cs typeface="Times New Roman" panose="02020603050405020304" pitchFamily="18" charset="0"/>
              </a:rPr>
              <a:t> Claude Tag</a:t>
            </a:r>
          </a:p>
        </p:txBody>
      </p:sp>
      <p:sp>
        <p:nvSpPr>
          <p:cNvPr id="28" name="TextBox 27"/>
          <p:cNvSpPr txBox="1"/>
          <p:nvPr/>
        </p:nvSpPr>
        <p:spPr>
          <a:xfrm>
            <a:off x="996696" y="3703320"/>
            <a:ext cx="1691640" cy="1509516"/>
          </a:xfrm>
          <a:prstGeom prst="rect">
            <a:avLst/>
          </a:prstGeom>
          <a:noFill/>
        </p:spPr>
        <p:txBody>
          <a:bodyPr wrap="square" lIns="0" tIns="0" rIns="0" bIns="0" anchor="t">
            <a:spAutoFit/>
          </a:bodyPr>
          <a:lstStyle/>
          <a:p>
            <a:pPr marL="155448" indent="-155448">
              <a:lnSpc>
                <a:spcPct val="120000"/>
              </a:lnSpc>
              <a:spcAft>
                <a:spcPts val="400"/>
              </a:spcAft>
              <a:buChar char="•"/>
            </a:pPr>
            <a:r>
              <a:rPr sz="1100" b="0" i="0" dirty="0">
                <a:solidFill>
                  <a:srgbClr val="4A5363"/>
                </a:solidFill>
                <a:latin typeface="Times New Roman" panose="02020603050405020304" pitchFamily="18" charset="0"/>
                <a:ea typeface="IBM Plex Sans"/>
                <a:cs typeface="Times New Roman" panose="02020603050405020304" pitchFamily="18" charset="0"/>
              </a:rPr>
              <a:t>Plugin points Claude at /</a:t>
            </a:r>
            <a:r>
              <a:rPr sz="1100" b="0" i="0" dirty="0" err="1">
                <a:solidFill>
                  <a:srgbClr val="4A5363"/>
                </a:solidFill>
                <a:latin typeface="Times New Roman" panose="02020603050405020304" pitchFamily="18" charset="0"/>
                <a:ea typeface="IBM Plex Sans"/>
                <a:cs typeface="Times New Roman" panose="02020603050405020304" pitchFamily="18" charset="0"/>
              </a:rPr>
              <a:t>mcp</a:t>
            </a:r>
            <a:endParaRPr sz="1100" b="0" i="0" dirty="0">
              <a:solidFill>
                <a:srgbClr val="4A5363"/>
              </a:solidFill>
              <a:latin typeface="Times New Roman" panose="02020603050405020304" pitchFamily="18" charset="0"/>
              <a:ea typeface="IBM Plex Sans"/>
              <a:cs typeface="Times New Roman" panose="02020603050405020304" pitchFamily="18" charset="0"/>
            </a:endParaRPr>
          </a:p>
          <a:p>
            <a:pPr marL="155448" indent="-155448">
              <a:lnSpc>
                <a:spcPct val="120000"/>
              </a:lnSpc>
              <a:spcAft>
                <a:spcPts val="400"/>
              </a:spcAft>
              <a:buChar char="•"/>
            </a:pPr>
            <a:r>
              <a:rPr sz="1100" b="0" i="0" dirty="0">
                <a:solidFill>
                  <a:srgbClr val="4A5363"/>
                </a:solidFill>
                <a:latin typeface="Times New Roman" panose="02020603050405020304" pitchFamily="18" charset="0"/>
                <a:ea typeface="IBM Plex Sans"/>
                <a:cs typeface="Times New Roman" panose="02020603050405020304" pitchFamily="18" charset="0"/>
              </a:rPr>
              <a:t>Every call </a:t>
            </a:r>
            <a:r>
              <a:rPr lang="en-US" sz="1100" b="0" i="0" dirty="0">
                <a:solidFill>
                  <a:srgbClr val="4A5363"/>
                </a:solidFill>
                <a:latin typeface="Times New Roman" panose="02020603050405020304" pitchFamily="18" charset="0"/>
                <a:ea typeface="IBM Plex Sans"/>
                <a:cs typeface="Times New Roman" panose="02020603050405020304" pitchFamily="18" charset="0"/>
              </a:rPr>
              <a:t>uses</a:t>
            </a:r>
            <a:r>
              <a:rPr sz="1100" b="0" i="0" dirty="0">
                <a:solidFill>
                  <a:srgbClr val="4A5363"/>
                </a:solidFill>
                <a:latin typeface="Times New Roman" panose="02020603050405020304" pitchFamily="18" charset="0"/>
                <a:ea typeface="IBM Plex Sans"/>
                <a:cs typeface="Times New Roman" panose="02020603050405020304" pitchFamily="18" charset="0"/>
              </a:rPr>
              <a:t> a secret token</a:t>
            </a:r>
          </a:p>
          <a:p>
            <a:pPr marL="155448" indent="-155448">
              <a:lnSpc>
                <a:spcPct val="120000"/>
              </a:lnSpc>
              <a:buChar char="•"/>
            </a:pPr>
            <a:r>
              <a:rPr sz="1100" b="0" i="0" dirty="0">
                <a:solidFill>
                  <a:srgbClr val="4A5363"/>
                </a:solidFill>
                <a:latin typeface="Times New Roman" panose="02020603050405020304" pitchFamily="18" charset="0"/>
                <a:ea typeface="IBM Plex Sans"/>
                <a:cs typeface="Times New Roman" panose="02020603050405020304" pitchFamily="18" charset="0"/>
              </a:rPr>
              <a:t>Skill: call </a:t>
            </a:r>
            <a:r>
              <a:rPr sz="1100" b="0" i="0" dirty="0" err="1">
                <a:solidFill>
                  <a:srgbClr val="4A5363"/>
                </a:solidFill>
                <a:latin typeface="Times New Roman" panose="02020603050405020304" pitchFamily="18" charset="0"/>
                <a:ea typeface="IBM Plex Sans"/>
                <a:cs typeface="Times New Roman" panose="02020603050405020304" pitchFamily="18" charset="0"/>
              </a:rPr>
              <a:t>ask_contracts</a:t>
            </a:r>
            <a:r>
              <a:rPr sz="1100" b="0" i="0" dirty="0">
                <a:solidFill>
                  <a:srgbClr val="4A5363"/>
                </a:solidFill>
                <a:latin typeface="Times New Roman" panose="02020603050405020304" pitchFamily="18" charset="0"/>
                <a:ea typeface="IBM Plex Sans"/>
                <a:cs typeface="Times New Roman" panose="02020603050405020304" pitchFamily="18" charset="0"/>
              </a:rPr>
              <a:t>, quote it with file and page, never </a:t>
            </a:r>
            <a:r>
              <a:rPr lang="en-US" sz="1100" b="0" i="0" dirty="0">
                <a:solidFill>
                  <a:srgbClr val="4A5363"/>
                </a:solidFill>
                <a:latin typeface="Times New Roman" panose="02020603050405020304" pitchFamily="18" charset="0"/>
                <a:ea typeface="IBM Plex Sans"/>
                <a:cs typeface="Times New Roman" panose="02020603050405020304" pitchFamily="18" charset="0"/>
              </a:rPr>
              <a:t>hallucinate</a:t>
            </a:r>
            <a:endParaRPr sz="1100" b="0" i="0" dirty="0">
              <a:solidFill>
                <a:srgbClr val="4A5363"/>
              </a:solidFill>
              <a:latin typeface="Times New Roman" panose="02020603050405020304" pitchFamily="18" charset="0"/>
              <a:ea typeface="IBM Plex Sans"/>
              <a:cs typeface="Times New Roman" panose="02020603050405020304" pitchFamily="18" charset="0"/>
            </a:endParaRPr>
          </a:p>
        </p:txBody>
      </p:sp>
      <p:sp>
        <p:nvSpPr>
          <p:cNvPr id="29" name="Fly machine"/>
          <p:cNvSpPr/>
          <p:nvPr/>
        </p:nvSpPr>
        <p:spPr>
          <a:xfrm>
            <a:off x="3145536" y="1965960"/>
            <a:ext cx="5907024" cy="3520440"/>
          </a:xfrm>
          <a:prstGeom prst="roundRect">
            <a:avLst>
              <a:gd name="adj" fmla="val 3000"/>
            </a:avLst>
          </a:prstGeom>
          <a:solidFill>
            <a:srgbClr val="ECE8DF"/>
          </a:solidFill>
          <a:ln w="6350">
            <a:solidFill>
              <a:srgbClr val="C9C2B2"/>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0" name="TextBox 29"/>
          <p:cNvSpPr txBox="1"/>
          <p:nvPr/>
        </p:nvSpPr>
        <p:spPr>
          <a:xfrm>
            <a:off x="3346704" y="2103120"/>
            <a:ext cx="5504688" cy="203389"/>
          </a:xfrm>
          <a:prstGeom prst="rect">
            <a:avLst/>
          </a:prstGeom>
          <a:noFill/>
        </p:spPr>
        <p:txBody>
          <a:bodyPr wrap="square" lIns="0" tIns="0" rIns="0" bIns="0" anchor="t">
            <a:spAutoFit/>
          </a:bodyPr>
          <a:lstStyle/>
          <a:p>
            <a:pPr>
              <a:lnSpc>
                <a:spcPct val="125000"/>
              </a:lnSpc>
              <a:buNone/>
            </a:pPr>
            <a:r>
              <a:rPr sz="1150" b="1" i="0" dirty="0" err="1">
                <a:solidFill>
                  <a:srgbClr val="16233B"/>
                </a:solidFill>
                <a:latin typeface="Times New Roman" panose="02020603050405020304" pitchFamily="18" charset="0"/>
                <a:ea typeface="IBM Plex Sans"/>
                <a:cs typeface="Times New Roman" panose="02020603050405020304" pitchFamily="18" charset="0"/>
              </a:rPr>
              <a:t>Fly.io</a:t>
            </a:r>
            <a:r>
              <a:rPr sz="1150" b="1" i="0" dirty="0">
                <a:solidFill>
                  <a:srgbClr val="16233B"/>
                </a:solidFill>
                <a:latin typeface="Times New Roman" panose="02020603050405020304" pitchFamily="18" charset="0"/>
                <a:ea typeface="IBM Plex Sans"/>
                <a:cs typeface="Times New Roman" panose="02020603050405020304" pitchFamily="18" charset="0"/>
              </a:rPr>
              <a:t> machine</a:t>
            </a:r>
            <a:r>
              <a:rPr sz="1150" b="0" i="0" dirty="0">
                <a:solidFill>
                  <a:srgbClr val="6B7280"/>
                </a:solidFill>
                <a:latin typeface="Times New Roman" panose="02020603050405020304" pitchFamily="18" charset="0"/>
                <a:ea typeface="IBM Plex Sans"/>
                <a:cs typeface="Times New Roman" panose="02020603050405020304" pitchFamily="18" charset="0"/>
              </a:rPr>
              <a:t>  2 CPUs, 4 GB, always on</a:t>
            </a:r>
          </a:p>
        </p:txBody>
      </p:sp>
      <p:sp>
        <p:nvSpPr>
          <p:cNvPr id="31" name="Caddy box"/>
          <p:cNvSpPr/>
          <p:nvPr/>
        </p:nvSpPr>
        <p:spPr>
          <a:xfrm>
            <a:off x="3346704" y="2532888"/>
            <a:ext cx="1371600" cy="2011680"/>
          </a:xfrm>
          <a:prstGeom prst="roundRect">
            <a:avLst>
              <a:gd name="adj" fmla="val 4000"/>
            </a:avLst>
          </a:prstGeom>
          <a:solidFill>
            <a:srgbClr val="FCFBF8"/>
          </a:solidFill>
          <a:ln w="6350">
            <a:solidFill>
              <a:srgbClr val="DDD8CC"/>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2" name="TextBox 31"/>
          <p:cNvSpPr txBox="1"/>
          <p:nvPr/>
        </p:nvSpPr>
        <p:spPr>
          <a:xfrm>
            <a:off x="3483864" y="2670048"/>
            <a:ext cx="1097280" cy="226600"/>
          </a:xfrm>
          <a:prstGeom prst="rect">
            <a:avLst/>
          </a:prstGeom>
          <a:noFill/>
        </p:spPr>
        <p:txBody>
          <a:bodyPr wrap="square" lIns="0" tIns="0" rIns="0" bIns="0" anchor="t">
            <a:spAutoFit/>
          </a:bodyPr>
          <a:lstStyle/>
          <a:p>
            <a:pPr>
              <a:lnSpc>
                <a:spcPct val="125000"/>
              </a:lnSpc>
              <a:buNone/>
            </a:pPr>
            <a:r>
              <a:rPr sz="1300" b="1" i="0">
                <a:solidFill>
                  <a:srgbClr val="16233B"/>
                </a:solidFill>
                <a:latin typeface="Times New Roman" panose="02020603050405020304" pitchFamily="18" charset="0"/>
                <a:ea typeface="IBM Plex Sans"/>
                <a:cs typeface="Times New Roman" panose="02020603050405020304" pitchFamily="18" charset="0"/>
              </a:rPr>
              <a:t>Caddy</a:t>
            </a:r>
          </a:p>
        </p:txBody>
      </p:sp>
      <p:sp>
        <p:nvSpPr>
          <p:cNvPr id="33" name="TextBox 32"/>
          <p:cNvSpPr txBox="1"/>
          <p:nvPr/>
        </p:nvSpPr>
        <p:spPr>
          <a:xfrm>
            <a:off x="3483864" y="2953512"/>
            <a:ext cx="1097280" cy="794769"/>
          </a:xfrm>
          <a:prstGeom prst="rect">
            <a:avLst/>
          </a:prstGeom>
          <a:noFill/>
        </p:spPr>
        <p:txBody>
          <a:bodyPr wrap="square" lIns="0" tIns="0" rIns="0" bIns="0" anchor="t">
            <a:spAutoFit/>
          </a:bodyPr>
          <a:lstStyle/>
          <a:p>
            <a:pPr>
              <a:lnSpc>
                <a:spcPct val="120000"/>
              </a:lnSpc>
              <a:buNone/>
            </a:pPr>
            <a:r>
              <a:rPr sz="1100" b="0" i="0">
                <a:solidFill>
                  <a:srgbClr val="4A5363"/>
                </a:solidFill>
                <a:latin typeface="Times New Roman" panose="02020603050405020304" pitchFamily="18" charset="0"/>
                <a:ea typeface="IBM Plex Sans"/>
                <a:cs typeface="Times New Roman" panose="02020603050405020304" pitchFamily="18" charset="0"/>
              </a:rPr>
              <a:t>Only public port. Sends /mcp to the MCP server, the rest to the web app</a:t>
            </a:r>
          </a:p>
        </p:txBody>
      </p:sp>
      <p:sp>
        <p:nvSpPr>
          <p:cNvPr id="34" name="Gradio box"/>
          <p:cNvSpPr/>
          <p:nvPr/>
        </p:nvSpPr>
        <p:spPr>
          <a:xfrm>
            <a:off x="4992624" y="2532888"/>
            <a:ext cx="1920240" cy="914400"/>
          </a:xfrm>
          <a:prstGeom prst="roundRect">
            <a:avLst>
              <a:gd name="adj" fmla="val 4000"/>
            </a:avLst>
          </a:prstGeom>
          <a:solidFill>
            <a:srgbClr val="FCFBF8"/>
          </a:solidFill>
          <a:ln w="6350">
            <a:solidFill>
              <a:srgbClr val="DDD8CC"/>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5" name="TextBox 34"/>
          <p:cNvSpPr txBox="1"/>
          <p:nvPr/>
        </p:nvSpPr>
        <p:spPr>
          <a:xfrm>
            <a:off x="5129784" y="2642616"/>
            <a:ext cx="1645920" cy="209160"/>
          </a:xfrm>
          <a:prstGeom prst="rect">
            <a:avLst/>
          </a:prstGeom>
          <a:noFill/>
        </p:spPr>
        <p:txBody>
          <a:bodyPr wrap="square" lIns="0" tIns="0" rIns="0" bIns="0" anchor="t">
            <a:spAutoFit/>
          </a:bodyPr>
          <a:lstStyle/>
          <a:p>
            <a:pPr>
              <a:lnSpc>
                <a:spcPct val="125000"/>
              </a:lnSpc>
              <a:buNone/>
            </a:pPr>
            <a:r>
              <a:rPr sz="1200" b="1" i="0">
                <a:solidFill>
                  <a:srgbClr val="16233B"/>
                </a:solidFill>
                <a:latin typeface="Times New Roman" panose="02020603050405020304" pitchFamily="18" charset="0"/>
                <a:ea typeface="IBM Plex Sans"/>
                <a:cs typeface="Times New Roman" panose="02020603050405020304" pitchFamily="18" charset="0"/>
              </a:rPr>
              <a:t>Gradio web app</a:t>
            </a:r>
          </a:p>
        </p:txBody>
      </p:sp>
      <p:sp>
        <p:nvSpPr>
          <p:cNvPr id="36" name="TextBox 35"/>
          <p:cNvSpPr txBox="1"/>
          <p:nvPr/>
        </p:nvSpPr>
        <p:spPr>
          <a:xfrm>
            <a:off x="5129784" y="2916936"/>
            <a:ext cx="1645920" cy="373692"/>
          </a:xfrm>
          <a:prstGeom prst="rect">
            <a:avLst/>
          </a:prstGeom>
          <a:noFill/>
        </p:spPr>
        <p:txBody>
          <a:bodyPr wrap="square" lIns="0" tIns="0" rIns="0" bIns="0" anchor="t">
            <a:spAutoFit/>
          </a:bodyPr>
          <a:lstStyle/>
          <a:p>
            <a:pPr>
              <a:lnSpc>
                <a:spcPct val="115000"/>
              </a:lnSpc>
              <a:buNone/>
            </a:pPr>
            <a:r>
              <a:rPr sz="1100" b="0" i="0">
                <a:solidFill>
                  <a:srgbClr val="4A5363"/>
                </a:solidFill>
                <a:latin typeface="Times New Roman" panose="02020603050405020304" pitchFamily="18" charset="0"/>
                <a:ea typeface="IBM Plex Sans"/>
                <a:cs typeface="Times New Roman" panose="02020603050405020304" pitchFamily="18" charset="0"/>
              </a:rPr>
              <a:t>Overview, chat, explorer, data quality</a:t>
            </a:r>
          </a:p>
        </p:txBody>
      </p:sp>
      <p:sp>
        <p:nvSpPr>
          <p:cNvPr id="37" name="MCP box"/>
          <p:cNvSpPr/>
          <p:nvPr/>
        </p:nvSpPr>
        <p:spPr>
          <a:xfrm>
            <a:off x="4992624" y="3630168"/>
            <a:ext cx="1920240" cy="914400"/>
          </a:xfrm>
          <a:prstGeom prst="roundRect">
            <a:avLst>
              <a:gd name="adj" fmla="val 4000"/>
            </a:avLst>
          </a:prstGeom>
          <a:solidFill>
            <a:srgbClr val="FCFBF8"/>
          </a:solidFill>
          <a:ln w="6350">
            <a:solidFill>
              <a:srgbClr val="DDD8CC"/>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8" name="TextBox 37"/>
          <p:cNvSpPr txBox="1"/>
          <p:nvPr/>
        </p:nvSpPr>
        <p:spPr>
          <a:xfrm>
            <a:off x="5129784" y="3739896"/>
            <a:ext cx="1645920" cy="209160"/>
          </a:xfrm>
          <a:prstGeom prst="rect">
            <a:avLst/>
          </a:prstGeom>
          <a:noFill/>
        </p:spPr>
        <p:txBody>
          <a:bodyPr wrap="square" lIns="0" tIns="0" rIns="0" bIns="0" anchor="t">
            <a:spAutoFit/>
          </a:bodyPr>
          <a:lstStyle/>
          <a:p>
            <a:pPr>
              <a:lnSpc>
                <a:spcPct val="125000"/>
              </a:lnSpc>
              <a:buNone/>
            </a:pPr>
            <a:r>
              <a:rPr sz="1200" b="1" i="0">
                <a:solidFill>
                  <a:srgbClr val="16233B"/>
                </a:solidFill>
                <a:latin typeface="Times New Roman" panose="02020603050405020304" pitchFamily="18" charset="0"/>
                <a:ea typeface="IBM Plex Sans"/>
                <a:cs typeface="Times New Roman" panose="02020603050405020304" pitchFamily="18" charset="0"/>
              </a:rPr>
              <a:t>MCP server</a:t>
            </a:r>
          </a:p>
        </p:txBody>
      </p:sp>
      <p:sp>
        <p:nvSpPr>
          <p:cNvPr id="39" name="TextBox 38"/>
          <p:cNvSpPr txBox="1"/>
          <p:nvPr/>
        </p:nvSpPr>
        <p:spPr>
          <a:xfrm>
            <a:off x="5129784" y="4014216"/>
            <a:ext cx="1645920" cy="373692"/>
          </a:xfrm>
          <a:prstGeom prst="rect">
            <a:avLst/>
          </a:prstGeom>
          <a:noFill/>
        </p:spPr>
        <p:txBody>
          <a:bodyPr wrap="square" lIns="0" tIns="0" rIns="0" bIns="0" anchor="t">
            <a:spAutoFit/>
          </a:bodyPr>
          <a:lstStyle/>
          <a:p>
            <a:pPr>
              <a:lnSpc>
                <a:spcPct val="115000"/>
              </a:lnSpc>
              <a:buNone/>
            </a:pPr>
            <a:r>
              <a:rPr sz="1100" b="0" i="0">
                <a:solidFill>
                  <a:srgbClr val="4A5363"/>
                </a:solidFill>
                <a:latin typeface="Times New Roman" panose="02020603050405020304" pitchFamily="18" charset="0"/>
                <a:ea typeface="IBM Plex Sans"/>
                <a:cs typeface="Times New Roman" panose="02020603050405020304" pitchFamily="18" charset="0"/>
              </a:rPr>
              <a:t>One tool, ask_contracts, behind the token</a:t>
            </a:r>
          </a:p>
        </p:txBody>
      </p:sp>
      <p:sp>
        <p:nvSpPr>
          <p:cNvPr id="40" name="Engine box"/>
          <p:cNvSpPr/>
          <p:nvPr/>
        </p:nvSpPr>
        <p:spPr>
          <a:xfrm>
            <a:off x="7187184" y="2532888"/>
            <a:ext cx="1664207" cy="2011680"/>
          </a:xfrm>
          <a:prstGeom prst="roundRect">
            <a:avLst>
              <a:gd name="adj" fmla="val 4000"/>
            </a:avLst>
          </a:prstGeom>
          <a:solidFill>
            <a:srgbClr val="16233B"/>
          </a:solidFill>
          <a:ln>
            <a:no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1" name="TextBox 40"/>
          <p:cNvSpPr txBox="1"/>
          <p:nvPr/>
        </p:nvSpPr>
        <p:spPr>
          <a:xfrm>
            <a:off x="7324344" y="2670048"/>
            <a:ext cx="1389887" cy="226600"/>
          </a:xfrm>
          <a:prstGeom prst="rect">
            <a:avLst/>
          </a:prstGeom>
          <a:noFill/>
        </p:spPr>
        <p:txBody>
          <a:bodyPr wrap="square" lIns="0" tIns="0" rIns="0" bIns="0" anchor="t">
            <a:spAutoFit/>
          </a:bodyPr>
          <a:lstStyle/>
          <a:p>
            <a:pPr>
              <a:lnSpc>
                <a:spcPct val="125000"/>
              </a:lnSpc>
              <a:buNone/>
            </a:pPr>
            <a:r>
              <a:rPr sz="1300" b="1" i="0">
                <a:solidFill>
                  <a:srgbClr val="F6F4EF"/>
                </a:solidFill>
                <a:latin typeface="Times New Roman" panose="02020603050405020304" pitchFamily="18" charset="0"/>
                <a:ea typeface="IBM Plex Sans"/>
                <a:cs typeface="Times New Roman" panose="02020603050405020304" pitchFamily="18" charset="0"/>
              </a:rPr>
              <a:t>One engine</a:t>
            </a:r>
          </a:p>
        </p:txBody>
      </p:sp>
      <p:sp>
        <p:nvSpPr>
          <p:cNvPr id="42" name="TextBox 41"/>
          <p:cNvSpPr txBox="1"/>
          <p:nvPr/>
        </p:nvSpPr>
        <p:spPr>
          <a:xfrm>
            <a:off x="7324344" y="2953512"/>
            <a:ext cx="1389887" cy="794769"/>
          </a:xfrm>
          <a:prstGeom prst="rect">
            <a:avLst/>
          </a:prstGeom>
          <a:noFill/>
        </p:spPr>
        <p:txBody>
          <a:bodyPr wrap="square" lIns="0" tIns="0" rIns="0" bIns="0" anchor="t">
            <a:spAutoFit/>
          </a:bodyPr>
          <a:lstStyle/>
          <a:p>
            <a:pPr>
              <a:lnSpc>
                <a:spcPct val="120000"/>
              </a:lnSpc>
              <a:buNone/>
            </a:pPr>
            <a:r>
              <a:rPr sz="1100" b="0" i="0">
                <a:solidFill>
                  <a:srgbClr val="C5CCD8"/>
                </a:solidFill>
                <a:latin typeface="Times New Roman" panose="02020603050405020304" pitchFamily="18" charset="0"/>
                <a:ea typeface="IBM Plex Sans"/>
                <a:cs typeface="Times New Roman" panose="02020603050405020304" pitchFamily="18" charset="0"/>
              </a:rPr>
              <a:t>Router, search and answer in one Python process; retrieval model loaded once</a:t>
            </a:r>
          </a:p>
        </p:txBody>
      </p:sp>
      <p:sp>
        <p:nvSpPr>
          <p:cNvPr id="43" name="Data strip"/>
          <p:cNvSpPr/>
          <p:nvPr/>
        </p:nvSpPr>
        <p:spPr>
          <a:xfrm>
            <a:off x="3346704" y="4727448"/>
            <a:ext cx="5504688" cy="548640"/>
          </a:xfrm>
          <a:prstGeom prst="roundRect">
            <a:avLst>
              <a:gd name="adj" fmla="val 4000"/>
            </a:avLst>
          </a:prstGeom>
          <a:solidFill>
            <a:srgbClr val="FCFBF8"/>
          </a:solidFill>
          <a:ln w="6350">
            <a:solidFill>
              <a:srgbClr val="DDD8CC"/>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4" name="TextBox 43"/>
          <p:cNvSpPr txBox="1"/>
          <p:nvPr/>
        </p:nvSpPr>
        <p:spPr>
          <a:xfrm>
            <a:off x="3483864" y="4926273"/>
            <a:ext cx="5230368" cy="169277"/>
          </a:xfrm>
          <a:prstGeom prst="rect">
            <a:avLst/>
          </a:prstGeom>
          <a:noFill/>
        </p:spPr>
        <p:txBody>
          <a:bodyPr wrap="square" lIns="0" tIns="0" rIns="0" bIns="0" anchor="ctr">
            <a:spAutoFit/>
          </a:bodyPr>
          <a:lstStyle/>
          <a:p>
            <a:pPr>
              <a:lnSpc>
                <a:spcPct val="100000"/>
              </a:lnSpc>
              <a:buNone/>
            </a:pPr>
            <a:r>
              <a:rPr lang="en-US" sz="1100" b="1" i="0" dirty="0">
                <a:solidFill>
                  <a:srgbClr val="16233B"/>
                </a:solidFill>
                <a:latin typeface="Times New Roman" panose="02020603050405020304" pitchFamily="18" charset="0"/>
                <a:ea typeface="IBM Plex Sans"/>
                <a:cs typeface="Times New Roman" panose="02020603050405020304" pitchFamily="18" charset="0"/>
              </a:rPr>
              <a:t>Bundled with App: </a:t>
            </a:r>
            <a:r>
              <a:rPr sz="1100" b="0" i="0" dirty="0">
                <a:solidFill>
                  <a:srgbClr val="4A5363"/>
                </a:solidFill>
                <a:latin typeface="Times New Roman" panose="02020603050405020304" pitchFamily="18" charset="0"/>
                <a:ea typeface="IBM Plex Sans"/>
                <a:cs typeface="Times New Roman" panose="02020603050405020304" pitchFamily="18" charset="0"/>
              </a:rPr>
              <a:t>SQLite database, token index, staged PDFs, exports, test results</a:t>
            </a:r>
          </a:p>
        </p:txBody>
      </p:sp>
      <p:cxnSp>
        <p:nvCxnSpPr>
          <p:cNvPr id="45" name="Connector 44"/>
          <p:cNvCxnSpPr/>
          <p:nvPr/>
        </p:nvCxnSpPr>
        <p:spPr>
          <a:xfrm>
            <a:off x="4754880" y="2990088"/>
            <a:ext cx="201168" cy="0"/>
          </a:xfrm>
          <a:prstGeom prst="line">
            <a:avLst/>
          </a:prstGeom>
          <a:ln w="15875">
            <a:solidFill>
              <a:srgbClr val="A6461F"/>
            </a:solidFill>
            <a:tailEnd type="triangle" w="med" len="med"/>
          </a:ln>
        </p:spPr>
      </p:cxnSp>
      <p:cxnSp>
        <p:nvCxnSpPr>
          <p:cNvPr id="46" name="Connector 45"/>
          <p:cNvCxnSpPr/>
          <p:nvPr/>
        </p:nvCxnSpPr>
        <p:spPr>
          <a:xfrm>
            <a:off x="4754880" y="4087368"/>
            <a:ext cx="201168" cy="0"/>
          </a:xfrm>
          <a:prstGeom prst="line">
            <a:avLst/>
          </a:prstGeom>
          <a:ln w="15875">
            <a:solidFill>
              <a:srgbClr val="A6461F"/>
            </a:solidFill>
            <a:tailEnd type="triangle" w="med" len="med"/>
          </a:ln>
        </p:spPr>
      </p:cxnSp>
      <p:cxnSp>
        <p:nvCxnSpPr>
          <p:cNvPr id="47" name="Connector 46"/>
          <p:cNvCxnSpPr/>
          <p:nvPr/>
        </p:nvCxnSpPr>
        <p:spPr>
          <a:xfrm>
            <a:off x="6949440" y="2990088"/>
            <a:ext cx="201168" cy="0"/>
          </a:xfrm>
          <a:prstGeom prst="line">
            <a:avLst/>
          </a:prstGeom>
          <a:ln w="15875">
            <a:solidFill>
              <a:srgbClr val="A6461F"/>
            </a:solidFill>
            <a:tailEnd type="triangle" w="med" len="med"/>
          </a:ln>
        </p:spPr>
      </p:cxnSp>
      <p:cxnSp>
        <p:nvCxnSpPr>
          <p:cNvPr id="48" name="Connector 47"/>
          <p:cNvCxnSpPr/>
          <p:nvPr/>
        </p:nvCxnSpPr>
        <p:spPr>
          <a:xfrm>
            <a:off x="6949440" y="4087368"/>
            <a:ext cx="201168" cy="0"/>
          </a:xfrm>
          <a:prstGeom prst="line">
            <a:avLst/>
          </a:prstGeom>
          <a:ln w="15875">
            <a:solidFill>
              <a:srgbClr val="A6461F"/>
            </a:solidFill>
            <a:tailEnd type="triangle" w="med" len="med"/>
          </a:ln>
        </p:spPr>
      </p:cxnSp>
      <p:cxnSp>
        <p:nvCxnSpPr>
          <p:cNvPr id="49" name="Connector 48"/>
          <p:cNvCxnSpPr/>
          <p:nvPr/>
        </p:nvCxnSpPr>
        <p:spPr>
          <a:xfrm>
            <a:off x="2907792" y="2761488"/>
            <a:ext cx="402336" cy="0"/>
          </a:xfrm>
          <a:prstGeom prst="line">
            <a:avLst/>
          </a:prstGeom>
          <a:ln w="15875">
            <a:solidFill>
              <a:srgbClr val="A6461F"/>
            </a:solidFill>
            <a:tailEnd type="triangle" w="med" len="med"/>
          </a:ln>
        </p:spPr>
      </p:cxnSp>
      <p:cxnSp>
        <p:nvCxnSpPr>
          <p:cNvPr id="50" name="Connector 49"/>
          <p:cNvCxnSpPr/>
          <p:nvPr/>
        </p:nvCxnSpPr>
        <p:spPr>
          <a:xfrm>
            <a:off x="2907792" y="4206240"/>
            <a:ext cx="402336" cy="0"/>
          </a:xfrm>
          <a:prstGeom prst="line">
            <a:avLst/>
          </a:prstGeom>
          <a:ln w="15875">
            <a:solidFill>
              <a:srgbClr val="A6461F"/>
            </a:solidFill>
            <a:tailEnd type="triangle" w="med" len="med"/>
          </a:ln>
        </p:spPr>
      </p:cxnSp>
      <p:sp>
        <p:nvSpPr>
          <p:cNvPr id="51" name="OpenAI card"/>
          <p:cNvSpPr/>
          <p:nvPr/>
        </p:nvSpPr>
        <p:spPr>
          <a:xfrm>
            <a:off x="9326880" y="1965960"/>
            <a:ext cx="2057399" cy="1051560"/>
          </a:xfrm>
          <a:prstGeom prst="roundRect">
            <a:avLst>
              <a:gd name="adj" fmla="val 4000"/>
            </a:avLst>
          </a:prstGeom>
          <a:solidFill>
            <a:srgbClr val="FCFBF8"/>
          </a:solidFill>
          <a:ln w="6350">
            <a:solidFill>
              <a:srgbClr val="DDD8CC"/>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2" name="TextBox 51"/>
          <p:cNvSpPr txBox="1"/>
          <p:nvPr/>
        </p:nvSpPr>
        <p:spPr>
          <a:xfrm>
            <a:off x="9509760" y="2103120"/>
            <a:ext cx="1691639" cy="244106"/>
          </a:xfrm>
          <a:prstGeom prst="rect">
            <a:avLst/>
          </a:prstGeom>
          <a:noFill/>
        </p:spPr>
        <p:txBody>
          <a:bodyPr wrap="square" lIns="0" tIns="0" rIns="0" bIns="0" anchor="t">
            <a:spAutoFit/>
          </a:bodyPr>
          <a:lstStyle/>
          <a:p>
            <a:pPr>
              <a:lnSpc>
                <a:spcPct val="125000"/>
              </a:lnSpc>
              <a:buNone/>
            </a:pPr>
            <a:r>
              <a:rPr sz="1400" b="1" i="0">
                <a:solidFill>
                  <a:srgbClr val="16233B"/>
                </a:solidFill>
                <a:latin typeface="Times New Roman" panose="02020603050405020304" pitchFamily="18" charset="0"/>
                <a:ea typeface="IBM Plex Sans"/>
                <a:cs typeface="Times New Roman" panose="02020603050405020304" pitchFamily="18" charset="0"/>
              </a:rPr>
              <a:t>OpenAI API</a:t>
            </a:r>
          </a:p>
        </p:txBody>
      </p:sp>
      <p:sp>
        <p:nvSpPr>
          <p:cNvPr id="53" name="TextBox 52"/>
          <p:cNvSpPr txBox="1"/>
          <p:nvPr/>
        </p:nvSpPr>
        <p:spPr>
          <a:xfrm>
            <a:off x="9509760" y="2395728"/>
            <a:ext cx="1691639" cy="391261"/>
          </a:xfrm>
          <a:prstGeom prst="rect">
            <a:avLst/>
          </a:prstGeom>
          <a:noFill/>
        </p:spPr>
        <p:txBody>
          <a:bodyPr wrap="square" lIns="0" tIns="0" rIns="0" bIns="0" anchor="t">
            <a:spAutoFit/>
          </a:bodyPr>
          <a:lstStyle/>
          <a:p>
            <a:pPr>
              <a:lnSpc>
                <a:spcPct val="120000"/>
              </a:lnSpc>
              <a:buNone/>
            </a:pPr>
            <a:r>
              <a:rPr sz="1100" b="0" i="0" dirty="0">
                <a:solidFill>
                  <a:srgbClr val="4A5363"/>
                </a:solidFill>
                <a:latin typeface="Times New Roman" panose="02020603050405020304" pitchFamily="18" charset="0"/>
                <a:ea typeface="IBM Plex Sans"/>
                <a:cs typeface="Times New Roman" panose="02020603050405020304" pitchFamily="18" charset="0"/>
              </a:rPr>
              <a:t>gpt-5-mini</a:t>
            </a:r>
            <a:r>
              <a:rPr lang="en-US" sz="1100" b="0" i="0" dirty="0">
                <a:solidFill>
                  <a:srgbClr val="4A5363"/>
                </a:solidFill>
                <a:latin typeface="Times New Roman" panose="02020603050405020304" pitchFamily="18" charset="0"/>
                <a:ea typeface="IBM Plex Sans"/>
                <a:cs typeface="Times New Roman" panose="02020603050405020304" pitchFamily="18" charset="0"/>
              </a:rPr>
              <a:t> (trivial to swap model family/provider)</a:t>
            </a:r>
            <a:endParaRPr sz="1100" b="0" i="0" dirty="0">
              <a:solidFill>
                <a:srgbClr val="4A5363"/>
              </a:solidFill>
              <a:latin typeface="Times New Roman" panose="02020603050405020304" pitchFamily="18" charset="0"/>
              <a:ea typeface="IBM Plex Sans"/>
              <a:cs typeface="Times New Roman" panose="02020603050405020304" pitchFamily="18" charset="0"/>
            </a:endParaRPr>
          </a:p>
        </p:txBody>
      </p:sp>
      <p:cxnSp>
        <p:nvCxnSpPr>
          <p:cNvPr id="54" name="Connector 53"/>
          <p:cNvCxnSpPr/>
          <p:nvPr/>
        </p:nvCxnSpPr>
        <p:spPr>
          <a:xfrm>
            <a:off x="8887967" y="2761488"/>
            <a:ext cx="402337" cy="0"/>
          </a:xfrm>
          <a:prstGeom prst="line">
            <a:avLst/>
          </a:prstGeom>
          <a:ln w="15875">
            <a:solidFill>
              <a:srgbClr val="A6461F"/>
            </a:solidFill>
            <a:tailEnd type="triangle" w="med" len="med"/>
          </a:ln>
        </p:spPr>
      </p:cxnSp>
      <p:sp>
        <p:nvSpPr>
          <p:cNvPr id="55" name="Deploy card"/>
          <p:cNvSpPr/>
          <p:nvPr/>
        </p:nvSpPr>
        <p:spPr>
          <a:xfrm>
            <a:off x="9326880" y="3246120"/>
            <a:ext cx="2057399" cy="2240280"/>
          </a:xfrm>
          <a:prstGeom prst="roundRect">
            <a:avLst>
              <a:gd name="adj" fmla="val 4000"/>
            </a:avLst>
          </a:prstGeom>
          <a:solidFill>
            <a:srgbClr val="FCFBF8"/>
          </a:solidFill>
          <a:ln w="6350">
            <a:solidFill>
              <a:srgbClr val="DDD8CC"/>
            </a:solidFill>
          </a:ln>
        </p:spPr>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6" name="TextBox 55"/>
          <p:cNvSpPr txBox="1"/>
          <p:nvPr/>
        </p:nvSpPr>
        <p:spPr>
          <a:xfrm>
            <a:off x="9509760" y="3383280"/>
            <a:ext cx="1691639" cy="244106"/>
          </a:xfrm>
          <a:prstGeom prst="rect">
            <a:avLst/>
          </a:prstGeom>
          <a:noFill/>
        </p:spPr>
        <p:txBody>
          <a:bodyPr wrap="square" lIns="0" tIns="0" rIns="0" bIns="0" anchor="t">
            <a:spAutoFit/>
          </a:bodyPr>
          <a:lstStyle/>
          <a:p>
            <a:pPr>
              <a:lnSpc>
                <a:spcPct val="125000"/>
              </a:lnSpc>
              <a:buNone/>
            </a:pPr>
            <a:r>
              <a:rPr sz="1400" b="1" i="0">
                <a:solidFill>
                  <a:srgbClr val="16233B"/>
                </a:solidFill>
                <a:latin typeface="Times New Roman" panose="02020603050405020304" pitchFamily="18" charset="0"/>
                <a:ea typeface="IBM Plex Sans"/>
                <a:cs typeface="Times New Roman" panose="02020603050405020304" pitchFamily="18" charset="0"/>
              </a:rPr>
              <a:t>Deploy script</a:t>
            </a:r>
          </a:p>
        </p:txBody>
      </p:sp>
      <p:sp>
        <p:nvSpPr>
          <p:cNvPr id="57" name="TextBox 56"/>
          <p:cNvSpPr txBox="1"/>
          <p:nvPr/>
        </p:nvSpPr>
        <p:spPr>
          <a:xfrm>
            <a:off x="9509760" y="3703320"/>
            <a:ext cx="1691639" cy="1506759"/>
          </a:xfrm>
          <a:prstGeom prst="rect">
            <a:avLst/>
          </a:prstGeom>
          <a:noFill/>
        </p:spPr>
        <p:txBody>
          <a:bodyPr wrap="square" lIns="0" tIns="0" rIns="0" bIns="0" anchor="t">
            <a:spAutoFit/>
          </a:bodyPr>
          <a:lstStyle/>
          <a:p>
            <a:pPr marL="155448" indent="-155448">
              <a:lnSpc>
                <a:spcPct val="120000"/>
              </a:lnSpc>
              <a:spcAft>
                <a:spcPts val="400"/>
              </a:spcAft>
              <a:buChar char="•"/>
            </a:pPr>
            <a:r>
              <a:rPr sz="1100" b="0" i="0" dirty="0">
                <a:solidFill>
                  <a:srgbClr val="4A5363"/>
                </a:solidFill>
                <a:latin typeface="Times New Roman" panose="02020603050405020304" pitchFamily="18" charset="0"/>
                <a:ea typeface="IBM Plex Sans"/>
                <a:cs typeface="Times New Roman" panose="02020603050405020304" pitchFamily="18" charset="0"/>
              </a:rPr>
              <a:t>Builds a Docker image with code, a database snapshot, index and PDFs</a:t>
            </a:r>
          </a:p>
          <a:p>
            <a:pPr marL="155448" indent="-155448">
              <a:lnSpc>
                <a:spcPct val="120000"/>
              </a:lnSpc>
              <a:spcAft>
                <a:spcPts val="400"/>
              </a:spcAft>
              <a:buChar char="•"/>
            </a:pPr>
            <a:r>
              <a:rPr lang="en-US" sz="1100" b="0" i="0" dirty="0" err="1">
                <a:solidFill>
                  <a:srgbClr val="4A5363"/>
                </a:solidFill>
                <a:latin typeface="Times New Roman" panose="02020603050405020304" pitchFamily="18" charset="0"/>
                <a:ea typeface="IBM Plex Sans"/>
                <a:cs typeface="Times New Roman" panose="02020603050405020304" pitchFamily="18" charset="0"/>
              </a:rPr>
              <a:t>Gitignore</a:t>
            </a:r>
            <a:r>
              <a:rPr lang="en-US" sz="1100" dirty="0">
                <a:solidFill>
                  <a:srgbClr val="4A5363"/>
                </a:solidFill>
                <a:latin typeface="Times New Roman" panose="02020603050405020304" pitchFamily="18" charset="0"/>
                <a:ea typeface="IBM Plex Sans"/>
                <a:cs typeface="Times New Roman" panose="02020603050405020304" pitchFamily="18" charset="0"/>
              </a:rPr>
              <a:t> </a:t>
            </a:r>
            <a:r>
              <a:rPr sz="1100" b="0" i="0" dirty="0">
                <a:solidFill>
                  <a:srgbClr val="4A5363"/>
                </a:solidFill>
                <a:latin typeface="Times New Roman" panose="02020603050405020304" pitchFamily="18" charset="0"/>
                <a:ea typeface="IBM Plex Sans"/>
                <a:cs typeface="Times New Roman" panose="02020603050405020304" pitchFamily="18" charset="0"/>
              </a:rPr>
              <a:t>.env</a:t>
            </a:r>
            <a:r>
              <a:rPr lang="en-US" sz="1100" b="0" i="0" dirty="0">
                <a:solidFill>
                  <a:srgbClr val="4A5363"/>
                </a:solidFill>
                <a:latin typeface="Times New Roman" panose="02020603050405020304" pitchFamily="18" charset="0"/>
                <a:ea typeface="IBM Plex Sans"/>
                <a:cs typeface="Times New Roman" panose="02020603050405020304" pitchFamily="18" charset="0"/>
              </a:rPr>
              <a:t>, </a:t>
            </a:r>
            <a:r>
              <a:rPr sz="1100" b="0" i="0" dirty="0">
                <a:solidFill>
                  <a:srgbClr val="4A5363"/>
                </a:solidFill>
                <a:latin typeface="Times New Roman" panose="02020603050405020304" pitchFamily="18" charset="0"/>
                <a:ea typeface="IBM Plex Sans"/>
                <a:cs typeface="Times New Roman" panose="02020603050405020304" pitchFamily="18" charset="0"/>
              </a:rPr>
              <a:t>raw contracts</a:t>
            </a:r>
          </a:p>
          <a:p>
            <a:pPr marL="155448" indent="-155448">
              <a:lnSpc>
                <a:spcPct val="120000"/>
              </a:lnSpc>
              <a:buChar char="•"/>
            </a:pPr>
            <a:r>
              <a:rPr sz="1100" b="0" i="0" dirty="0">
                <a:solidFill>
                  <a:srgbClr val="4A5363"/>
                </a:solidFill>
                <a:latin typeface="Times New Roman" panose="02020603050405020304" pitchFamily="18" charset="0"/>
                <a:ea typeface="IBM Plex Sans"/>
                <a:cs typeface="Times New Roman" panose="02020603050405020304" pitchFamily="18" charset="0"/>
              </a:rPr>
              <a:t>Sends secrets to Fly</a:t>
            </a:r>
            <a:r>
              <a:rPr lang="en-US" sz="1100" b="0" i="0" dirty="0">
                <a:solidFill>
                  <a:srgbClr val="4A5363"/>
                </a:solidFill>
                <a:latin typeface="Times New Roman" panose="02020603050405020304" pitchFamily="18" charset="0"/>
                <a:ea typeface="IBM Plex Sans"/>
                <a:cs typeface="Times New Roman" panose="02020603050405020304" pitchFamily="18" charset="0"/>
              </a:rPr>
              <a:t> backe</a:t>
            </a:r>
            <a:r>
              <a:rPr lang="en-US" sz="1100" dirty="0">
                <a:solidFill>
                  <a:srgbClr val="4A5363"/>
                </a:solidFill>
                <a:latin typeface="Times New Roman" panose="02020603050405020304" pitchFamily="18" charset="0"/>
                <a:ea typeface="IBM Plex Sans"/>
                <a:cs typeface="Times New Roman" panose="02020603050405020304" pitchFamily="18" charset="0"/>
              </a:rPr>
              <a:t>nd</a:t>
            </a:r>
            <a:endParaRPr sz="1100" b="0" i="0" dirty="0">
              <a:solidFill>
                <a:srgbClr val="4A5363"/>
              </a:solidFill>
              <a:latin typeface="Times New Roman" panose="02020603050405020304" pitchFamily="18" charset="0"/>
              <a:ea typeface="IBM Plex Sans"/>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16256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6461F"/>
                </a:solidFill>
                <a:latin typeface="Times New Roman" panose="02020603050405020304" pitchFamily="18" charset="0"/>
                <a:ea typeface="IBM Plex Sans" pitchFamily="34" charset="-122"/>
                <a:cs typeface="Times New Roman" panose="02020603050405020304" pitchFamily="18" charset="0"/>
              </a:rPr>
              <a:t>Architecture Choices</a:t>
            </a:r>
            <a:endParaRPr lang="en-US" sz="1200" dirty="0">
              <a:latin typeface="Times New Roman" panose="02020603050405020304" pitchFamily="18" charset="0"/>
              <a:cs typeface="Times New Roman" panose="02020603050405020304" pitchFamily="18" charset="0"/>
            </a:endParaRPr>
          </a:p>
        </p:txBody>
      </p:sp>
      <p:sp>
        <p:nvSpPr>
          <p:cNvPr id="3" name="Text 1"/>
          <p:cNvSpPr>
            <a:spLocks noGrp="1"/>
          </p:cNvSpPr>
          <p:nvPr>
            <p:ph type="title"/>
          </p:nvPr>
        </p:nvSpPr>
        <p:spPr>
          <a:xfrm>
            <a:off x="812800" y="52828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6233B"/>
                </a:solidFill>
                <a:latin typeface="Times New Roman" panose="02020603050405020304" pitchFamily="18" charset="0"/>
                <a:ea typeface="Source Serif 4" pitchFamily="18" charset="-122"/>
                <a:cs typeface="Times New Roman" panose="02020603050405020304" pitchFamily="18" charset="0"/>
              </a:rPr>
              <a:t>Design choices and trade-offs</a:t>
            </a:r>
            <a:endParaRPr lang="en-US" sz="3600" dirty="0">
              <a:latin typeface="Times New Roman" panose="02020603050405020304" pitchFamily="18" charset="0"/>
              <a:cs typeface="Times New Roman" panose="02020603050405020304" pitchFamily="18" charset="0"/>
            </a:endParaRPr>
          </a:p>
        </p:txBody>
      </p:sp>
      <p:graphicFrame>
        <p:nvGraphicFramePr>
          <p:cNvPr id="4" name="Table 0"/>
          <p:cNvGraphicFramePr>
            <a:graphicFrameLocks noGrp="1"/>
          </p:cNvGraphicFramePr>
          <p:nvPr>
            <p:extLst>
              <p:ext uri="{D42A27DB-BD31-4B8C-83A1-F6EECF244321}">
                <p14:modId xmlns:p14="http://schemas.microsoft.com/office/powerpoint/2010/main" val="2723786137"/>
              </p:ext>
            </p:extLst>
          </p:nvPr>
        </p:nvGraphicFramePr>
        <p:xfrm>
          <a:off x="589280" y="1170752"/>
          <a:ext cx="10602009" cy="2769630"/>
        </p:xfrm>
        <a:graphic>
          <a:graphicData uri="http://schemas.openxmlformats.org/drawingml/2006/table">
            <a:tbl>
              <a:tblPr/>
              <a:tblGrid>
                <a:gridCol w="6785286">
                  <a:extLst>
                    <a:ext uri="{9D8B030D-6E8A-4147-A177-3AD203B41FA5}">
                      <a16:colId xmlns:a16="http://schemas.microsoft.com/office/drawing/2014/main" val="20000"/>
                    </a:ext>
                  </a:extLst>
                </a:gridCol>
                <a:gridCol w="3816723">
                  <a:extLst>
                    <a:ext uri="{9D8B030D-6E8A-4147-A177-3AD203B41FA5}">
                      <a16:colId xmlns:a16="http://schemas.microsoft.com/office/drawing/2014/main" val="20001"/>
                    </a:ext>
                  </a:extLst>
                </a:gridCol>
              </a:tblGrid>
              <a:tr h="360345">
                <a:tc>
                  <a:txBody>
                    <a:bodyPr/>
                    <a:lstStyle/>
                    <a:p>
                      <a:pPr marL="0" indent="0">
                        <a:lnSpc>
                          <a:spcPts val="1820"/>
                        </a:lnSpc>
                        <a:buNone/>
                      </a:pPr>
                      <a:r>
                        <a:rPr lang="en-US" sz="1300" b="1" dirty="0">
                          <a:solidFill>
                            <a:srgbClr val="F6F4EF"/>
                          </a:solidFill>
                          <a:latin typeface="Times New Roman" panose="02020603050405020304" pitchFamily="18" charset="0"/>
                          <a:ea typeface="IBM Plex Sans" pitchFamily="34" charset="-122"/>
                          <a:cs typeface="Times New Roman" panose="02020603050405020304" pitchFamily="18" charset="0"/>
                        </a:rPr>
                        <a:t>Choice</a:t>
                      </a:r>
                      <a:endParaRPr lang="en-US" sz="1300" dirty="0">
                        <a:latin typeface="Times New Roman" panose="02020603050405020304" pitchFamily="18" charset="0"/>
                        <a:ea typeface="IBM Plex Sans" charset="0"/>
                        <a:cs typeface="Times New Roman" panose="02020603050405020304" pitchFamily="18" charset="0"/>
                      </a:endParaRPr>
                    </a:p>
                  </a:txBody>
                  <a:tcPr marL="127000" marR="127000" marT="88900" marB="88900">
                    <a:lnL w="12700" cap="flat" cmpd="sng" algn="ctr">
                      <a:solidFill>
                        <a:srgbClr val="C4C3BF"/>
                      </a:solidFill>
                      <a:prstDash val="solid"/>
                      <a:round/>
                      <a:headEnd type="none" w="med" len="med"/>
                      <a:tailEnd type="none" w="med" len="med"/>
                    </a:lnL>
                    <a:lnR w="12700" cap="flat" cmpd="sng" algn="ctr">
                      <a:solidFill>
                        <a:srgbClr val="16203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62032"/>
                      </a:solidFill>
                      <a:prstDash val="solid"/>
                      <a:round/>
                      <a:headEnd type="none" w="med" len="med"/>
                      <a:tailEnd type="none" w="med" len="med"/>
                    </a:lnB>
                    <a:solidFill>
                      <a:srgbClr val="16233B"/>
                    </a:solidFill>
                  </a:tcPr>
                </a:tc>
                <a:tc>
                  <a:txBody>
                    <a:bodyPr/>
                    <a:lstStyle/>
                    <a:p>
                      <a:pPr marL="0" indent="0">
                        <a:lnSpc>
                          <a:spcPts val="1820"/>
                        </a:lnSpc>
                        <a:buNone/>
                      </a:pPr>
                      <a:r>
                        <a:rPr lang="en-US" sz="1300" b="1" dirty="0">
                          <a:solidFill>
                            <a:srgbClr val="F6F4EF"/>
                          </a:solidFill>
                          <a:latin typeface="Times New Roman" panose="02020603050405020304" pitchFamily="18" charset="0"/>
                          <a:ea typeface="IBM Plex Sans" pitchFamily="34" charset="-122"/>
                          <a:cs typeface="Times New Roman" panose="02020603050405020304" pitchFamily="18" charset="0"/>
                        </a:rPr>
                        <a:t>Trade-off</a:t>
                      </a:r>
                      <a:endParaRPr lang="en-US" sz="1300" dirty="0">
                        <a:latin typeface="Times New Roman" panose="02020603050405020304" pitchFamily="18" charset="0"/>
                        <a:ea typeface="IBM Plex Sans" charset="0"/>
                        <a:cs typeface="Times New Roman" panose="02020603050405020304" pitchFamily="18" charset="0"/>
                      </a:endParaRPr>
                    </a:p>
                  </a:txBody>
                  <a:tcPr marL="127000" marR="127000" marT="88900" marB="88900">
                    <a:lnL w="12700" cap="flat" cmpd="sng" algn="ctr">
                      <a:solidFill>
                        <a:srgbClr val="162032"/>
                      </a:solidFill>
                      <a:prstDash val="solid"/>
                      <a:round/>
                      <a:headEnd type="none" w="med" len="med"/>
                      <a:tailEnd type="none" w="med" len="med"/>
                    </a:lnL>
                    <a:lnR w="12700" cap="flat" cmpd="sng" algn="ctr">
                      <a:solidFill>
                        <a:srgbClr val="16203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62032"/>
                      </a:solidFill>
                      <a:prstDash val="solid"/>
                      <a:round/>
                      <a:headEnd type="none" w="med" len="med"/>
                      <a:tailEnd type="none" w="med" len="med"/>
                    </a:lnB>
                    <a:solidFill>
                      <a:srgbClr val="16233B"/>
                    </a:solidFill>
                  </a:tcPr>
                </a:tc>
                <a:extLst>
                  <a:ext uri="{0D108BD9-81ED-4DB2-BD59-A6C34878D82A}">
                    <a16:rowId xmlns:a16="http://schemas.microsoft.com/office/drawing/2014/main" val="10000"/>
                  </a:ext>
                </a:extLst>
              </a:tr>
              <a:tr h="570937">
                <a:tc>
                  <a:txBody>
                    <a:bodyPr/>
                    <a:lstStyle/>
                    <a:p>
                      <a:pPr marL="0" indent="0">
                        <a:lnSpc>
                          <a:spcPts val="1820"/>
                        </a:lnSpc>
                        <a:buNone/>
                      </a:pPr>
                      <a:r>
                        <a:rPr lang="en-US" sz="1300" dirty="0">
                          <a:solidFill>
                            <a:srgbClr val="16233B"/>
                          </a:solidFill>
                          <a:latin typeface="Times New Roman" panose="02020603050405020304" pitchFamily="18" charset="0"/>
                          <a:ea typeface="IBM Plex Sans" pitchFamily="34" charset="-122"/>
                          <a:cs typeface="Times New Roman" panose="02020603050405020304" pitchFamily="18" charset="0"/>
                        </a:rPr>
                        <a:t>AI never writes database code. It fills in a form; ordinary code counts and logs every request. Same question, same count.</a:t>
                      </a:r>
                      <a:endParaRPr lang="en-US" sz="1300" dirty="0">
                        <a:latin typeface="Times New Roman" panose="02020603050405020304" pitchFamily="18" charset="0"/>
                        <a:ea typeface="IBM Plex Sans" charset="0"/>
                        <a:cs typeface="Times New Roman" panose="02020603050405020304" pitchFamily="18" charset="0"/>
                      </a:endParaRPr>
                    </a:p>
                  </a:txBody>
                  <a:tcPr marL="127000" marR="127000" marT="88900" marB="88900">
                    <a:lnL w="12700" cap="flat" cmpd="sng" algn="ctr">
                      <a:solidFill>
                        <a:srgbClr val="C4C3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162032"/>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820"/>
                        </a:lnSpc>
                        <a:buNone/>
                      </a:pPr>
                      <a:r>
                        <a:rPr lang="en-US" sz="1300" dirty="0">
                          <a:solidFill>
                            <a:srgbClr val="4A5363"/>
                          </a:solidFill>
                          <a:latin typeface="Times New Roman" panose="02020603050405020304" pitchFamily="18" charset="0"/>
                          <a:ea typeface="IBM Plex Sans" pitchFamily="34" charset="-122"/>
                          <a:cs typeface="Times New Roman" panose="02020603050405020304" pitchFamily="18" charset="0"/>
                        </a:rPr>
                        <a:t>Unusual questions fall back to text search.</a:t>
                      </a:r>
                      <a:endParaRPr lang="en-US" sz="1300" dirty="0">
                        <a:latin typeface="Times New Roman" panose="02020603050405020304" pitchFamily="18" charset="0"/>
                        <a:ea typeface="IBM Plex Sans" charset="0"/>
                        <a:cs typeface="Times New Roman" panose="02020603050405020304" pitchFamily="18" charset="0"/>
                      </a:endParaRPr>
                    </a:p>
                  </a:txBody>
                  <a:tcPr marL="127000" marR="127000" marT="88900" marB="8890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162032"/>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extLst>
                  <a:ext uri="{0D108BD9-81ED-4DB2-BD59-A6C34878D82A}">
                    <a16:rowId xmlns:a16="http://schemas.microsoft.com/office/drawing/2014/main" val="10002"/>
                  </a:ext>
                </a:extLst>
              </a:tr>
              <a:tr h="570937">
                <a:tc>
                  <a:txBody>
                    <a:bodyPr/>
                    <a:lstStyle/>
                    <a:p>
                      <a:pPr marL="0" indent="0">
                        <a:lnSpc>
                          <a:spcPts val="1820"/>
                        </a:lnSpc>
                        <a:buNone/>
                      </a:pPr>
                      <a:r>
                        <a:rPr lang="en-US" sz="1300" dirty="0">
                          <a:solidFill>
                            <a:srgbClr val="16233B"/>
                          </a:solidFill>
                          <a:latin typeface="Times New Roman" panose="02020603050405020304" pitchFamily="18" charset="0"/>
                          <a:ea typeface="IBM Plex Sans" pitchFamily="34" charset="-122"/>
                          <a:cs typeface="Times New Roman" panose="02020603050405020304" pitchFamily="18" charset="0"/>
                        </a:rPr>
                        <a:t>Word-level search (late interaction). Each question word references each passage word, so “twenty million dollars” finds “$20,000,000”.</a:t>
                      </a:r>
                      <a:endParaRPr lang="en-US" sz="1300" dirty="0">
                        <a:latin typeface="Times New Roman" panose="02020603050405020304" pitchFamily="18" charset="0"/>
                        <a:ea typeface="IBM Plex Sans" charset="0"/>
                        <a:cs typeface="Times New Roman" panose="02020603050405020304" pitchFamily="18" charset="0"/>
                      </a:endParaRPr>
                    </a:p>
                  </a:txBody>
                  <a:tcPr marL="127000" marR="1270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4A5363"/>
                          </a:solidFill>
                          <a:latin typeface="Times New Roman" panose="02020603050405020304" pitchFamily="18" charset="0"/>
                          <a:ea typeface="IBM Plex Sans" pitchFamily="34" charset="-122"/>
                          <a:cs typeface="Times New Roman" panose="02020603050405020304" pitchFamily="18" charset="0"/>
                        </a:rPr>
                        <a:t>More expensive storage and specific setup</a:t>
                      </a:r>
                      <a:endParaRPr lang="en-US" sz="1300" dirty="0">
                        <a:latin typeface="Times New Roman" panose="02020603050405020304" pitchFamily="18" charset="0"/>
                        <a:ea typeface="IBM Plex Sans" charset="0"/>
                        <a:cs typeface="Times New Roman" panose="02020603050405020304" pitchFamily="18" charset="0"/>
                      </a:endParaRPr>
                    </a:p>
                  </a:txBody>
                  <a:tcPr marL="127000" marR="1270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3"/>
                  </a:ext>
                </a:extLst>
              </a:tr>
              <a:tr h="532142">
                <a:tc>
                  <a:txBody>
                    <a:bodyPr/>
                    <a:lstStyle/>
                    <a:p>
                      <a:pPr marL="0" indent="0">
                        <a:lnSpc>
                          <a:spcPts val="1820"/>
                        </a:lnSpc>
                        <a:buNone/>
                      </a:pPr>
                      <a:r>
                        <a:rPr lang="en-US" sz="1300" dirty="0">
                          <a:solidFill>
                            <a:srgbClr val="16233B"/>
                          </a:solidFill>
                          <a:latin typeface="Times New Roman" panose="02020603050405020304" pitchFamily="18" charset="0"/>
                          <a:ea typeface="IBM Plex Sans" pitchFamily="34" charset="-122"/>
                          <a:cs typeface="Times New Roman" panose="02020603050405020304" pitchFamily="18" charset="0"/>
                        </a:rPr>
                        <a:t>One mid-priced model (gpt-5-mini) for every step. The archive cost $4.41.</a:t>
                      </a:r>
                      <a:endParaRPr lang="en-US" sz="1300" dirty="0">
                        <a:latin typeface="Times New Roman" panose="02020603050405020304" pitchFamily="18" charset="0"/>
                        <a:ea typeface="IBM Plex Sans" charset="0"/>
                        <a:cs typeface="Times New Roman" panose="02020603050405020304" pitchFamily="18" charset="0"/>
                      </a:endParaRPr>
                    </a:p>
                  </a:txBody>
                  <a:tcPr marL="127000" marR="127000" marT="88900" marB="88900">
                    <a:lnL w="12700" cap="flat" cmpd="sng" algn="ctr">
                      <a:solidFill>
                        <a:srgbClr val="C4C3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820"/>
                        </a:lnSpc>
                        <a:buNone/>
                      </a:pPr>
                      <a:r>
                        <a:rPr lang="en-US" sz="1300" dirty="0">
                          <a:solidFill>
                            <a:srgbClr val="4A5363"/>
                          </a:solidFill>
                          <a:latin typeface="Times New Roman" panose="02020603050405020304" pitchFamily="18" charset="0"/>
                          <a:ea typeface="IBM Plex Sans" pitchFamily="34" charset="-122"/>
                          <a:cs typeface="Times New Roman" panose="02020603050405020304" pitchFamily="18" charset="0"/>
                        </a:rPr>
                        <a:t>I did not compare models, saved time</a:t>
                      </a:r>
                      <a:endParaRPr lang="en-US" sz="1300" dirty="0">
                        <a:latin typeface="Times New Roman" panose="02020603050405020304" pitchFamily="18" charset="0"/>
                        <a:ea typeface="IBM Plex Sans" charset="0"/>
                        <a:cs typeface="Times New Roman" panose="02020603050405020304" pitchFamily="18" charset="0"/>
                      </a:endParaRPr>
                    </a:p>
                  </a:txBody>
                  <a:tcPr marL="127000" marR="127000" marT="88900" marB="8890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extLst>
                  <a:ext uri="{0D108BD9-81ED-4DB2-BD59-A6C34878D82A}">
                    <a16:rowId xmlns:a16="http://schemas.microsoft.com/office/drawing/2014/main" val="10004"/>
                  </a:ext>
                </a:extLst>
              </a:tr>
              <a:tr h="570937">
                <a:tc>
                  <a:txBody>
                    <a:bodyPr/>
                    <a:lstStyle/>
                    <a:p>
                      <a:pPr marL="0" indent="0">
                        <a:lnSpc>
                          <a:spcPts val="1820"/>
                        </a:lnSpc>
                        <a:buNone/>
                      </a:pPr>
                      <a:r>
                        <a:rPr lang="en-US" sz="1300" dirty="0">
                          <a:solidFill>
                            <a:srgbClr val="16233B"/>
                          </a:solidFill>
                          <a:latin typeface="Times New Roman" panose="02020603050405020304" pitchFamily="18" charset="0"/>
                          <a:ea typeface="IBM Plex Sans" pitchFamily="34" charset="-122"/>
                          <a:cs typeface="Times New Roman" panose="02020603050405020304" pitchFamily="18" charset="0"/>
                        </a:rPr>
                        <a:t>Single-file database plus spreadsheets. Anyone can open the data with no setup.</a:t>
                      </a:r>
                      <a:endParaRPr lang="en-US" sz="1300" dirty="0">
                        <a:latin typeface="Times New Roman" panose="02020603050405020304" pitchFamily="18" charset="0"/>
                        <a:ea typeface="IBM Plex Sans" charset="0"/>
                        <a:cs typeface="Times New Roman" panose="02020603050405020304" pitchFamily="18" charset="0"/>
                      </a:endParaRPr>
                    </a:p>
                  </a:txBody>
                  <a:tcPr marL="127000" marR="1270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4A5363"/>
                          </a:solidFill>
                          <a:latin typeface="Times New Roman" panose="02020603050405020304" pitchFamily="18" charset="0"/>
                          <a:ea typeface="IBM Plex Sans" pitchFamily="34" charset="-122"/>
                          <a:cs typeface="Times New Roman" panose="02020603050405020304" pitchFamily="18" charset="0"/>
                        </a:rPr>
                        <a:t>Suits a demo. Many users at once would need a server database.</a:t>
                      </a:r>
                      <a:endParaRPr lang="en-US" sz="1300" dirty="0">
                        <a:latin typeface="Times New Roman" panose="02020603050405020304" pitchFamily="18" charset="0"/>
                        <a:ea typeface="IBM Plex Sans" charset="0"/>
                        <a:cs typeface="Times New Roman" panose="02020603050405020304" pitchFamily="18" charset="0"/>
                      </a:endParaRPr>
                    </a:p>
                  </a:txBody>
                  <a:tcPr marL="127000" marR="127000" marT="88900" marB="889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Text 29">
            <a:extLst>
              <a:ext uri="{FF2B5EF4-FFF2-40B4-BE49-F238E27FC236}">
                <a16:creationId xmlns:a16="http://schemas.microsoft.com/office/drawing/2014/main" id="{14B4D5D3-2B84-CD5F-E4E1-4CC31C6E0CCC}"/>
              </a:ext>
            </a:extLst>
          </p:cNvPr>
          <p:cNvSpPr/>
          <p:nvPr/>
        </p:nvSpPr>
        <p:spPr>
          <a:xfrm>
            <a:off x="3124200" y="4197559"/>
            <a:ext cx="1473200" cy="208260"/>
          </a:xfrm>
          <a:prstGeom prst="rect">
            <a:avLst/>
          </a:prstGeom>
          <a:noFill/>
          <a:ln/>
        </p:spPr>
        <p:txBody>
          <a:bodyPr wrap="square" lIns="0" tIns="0" rIns="0" bIns="0" rtlCol="0" anchor="t">
            <a:normAutofit/>
          </a:bodyPr>
          <a:lstStyle/>
          <a:p>
            <a:pPr marL="0" indent="0" algn="l">
              <a:lnSpc>
                <a:spcPts val="1440"/>
              </a:lnSpc>
              <a:buNone/>
            </a:pPr>
            <a:r>
              <a:rPr lang="en-US" sz="1200" b="1" kern="0" spc="100" dirty="0">
                <a:solidFill>
                  <a:srgbClr val="14213D"/>
                </a:solidFill>
                <a:latin typeface="Times New Roman" panose="02020603050405020304" pitchFamily="18" charset="0"/>
                <a:ea typeface="IBM Plex Sans" pitchFamily="34" charset="-122"/>
                <a:cs typeface="Times New Roman" panose="02020603050405020304" pitchFamily="18" charset="0"/>
              </a:rPr>
              <a:t>TRADE-OFFS</a:t>
            </a:r>
            <a:endParaRPr lang="en-US" sz="1200" dirty="0">
              <a:latin typeface="Times New Roman" panose="02020603050405020304" pitchFamily="18" charset="0"/>
              <a:cs typeface="Times New Roman" panose="02020603050405020304" pitchFamily="18" charset="0"/>
            </a:endParaRPr>
          </a:p>
        </p:txBody>
      </p:sp>
      <p:sp>
        <p:nvSpPr>
          <p:cNvPr id="9" name="Text 31">
            <a:extLst>
              <a:ext uri="{FF2B5EF4-FFF2-40B4-BE49-F238E27FC236}">
                <a16:creationId xmlns:a16="http://schemas.microsoft.com/office/drawing/2014/main" id="{697D4ACE-B1C7-3BF5-28E9-B4516D2DAB39}"/>
              </a:ext>
            </a:extLst>
          </p:cNvPr>
          <p:cNvSpPr/>
          <p:nvPr/>
        </p:nvSpPr>
        <p:spPr>
          <a:xfrm>
            <a:off x="4775200" y="4197559"/>
            <a:ext cx="2629281" cy="208260"/>
          </a:xfrm>
          <a:prstGeom prst="rect">
            <a:avLst/>
          </a:prstGeom>
          <a:noFill/>
          <a:ln/>
        </p:spPr>
        <p:txBody>
          <a:bodyPr wrap="square" lIns="0" tIns="0" rIns="0" bIns="0" rtlCol="0" anchor="t">
            <a:normAutofit/>
          </a:bodyPr>
          <a:lstStyle/>
          <a:p>
            <a:pPr marL="0" indent="0" algn="l">
              <a:lnSpc>
                <a:spcPts val="1440"/>
              </a:lnSpc>
              <a:buNone/>
            </a:pPr>
            <a:r>
              <a:rPr lang="en-US" sz="1200" b="1" kern="0" spc="100" dirty="0">
                <a:solidFill>
                  <a:srgbClr val="2D5BD0"/>
                </a:solidFill>
                <a:latin typeface="Times New Roman" panose="02020603050405020304" pitchFamily="18" charset="0"/>
                <a:ea typeface="IBM Plex Sans" pitchFamily="34" charset="-122"/>
                <a:cs typeface="Times New Roman" panose="02020603050405020304" pitchFamily="18" charset="0"/>
              </a:rPr>
              <a:t>GAINS</a:t>
            </a:r>
            <a:endParaRPr lang="en-US" sz="1200" dirty="0">
              <a:latin typeface="Times New Roman" panose="02020603050405020304" pitchFamily="18" charset="0"/>
              <a:cs typeface="Times New Roman" panose="02020603050405020304" pitchFamily="18" charset="0"/>
            </a:endParaRPr>
          </a:p>
        </p:txBody>
      </p:sp>
      <p:sp>
        <p:nvSpPr>
          <p:cNvPr id="11" name="Text 33">
            <a:extLst>
              <a:ext uri="{FF2B5EF4-FFF2-40B4-BE49-F238E27FC236}">
                <a16:creationId xmlns:a16="http://schemas.microsoft.com/office/drawing/2014/main" id="{B0D20516-BC99-0156-6655-1C436693AB3C}"/>
              </a:ext>
            </a:extLst>
          </p:cNvPr>
          <p:cNvSpPr/>
          <p:nvPr/>
        </p:nvSpPr>
        <p:spPr>
          <a:xfrm>
            <a:off x="7556500" y="4197559"/>
            <a:ext cx="2629281" cy="208260"/>
          </a:xfrm>
          <a:prstGeom prst="rect">
            <a:avLst/>
          </a:prstGeom>
          <a:noFill/>
          <a:ln/>
        </p:spPr>
        <p:txBody>
          <a:bodyPr wrap="square" lIns="0" tIns="0" rIns="0" bIns="0" rtlCol="0" anchor="t">
            <a:normAutofit/>
          </a:bodyPr>
          <a:lstStyle/>
          <a:p>
            <a:pPr marL="0" indent="0" algn="l">
              <a:lnSpc>
                <a:spcPts val="1440"/>
              </a:lnSpc>
              <a:buNone/>
            </a:pPr>
            <a:r>
              <a:rPr lang="en-US" sz="1200" b="1" kern="0" spc="100" dirty="0">
                <a:solidFill>
                  <a:srgbClr val="9A4508"/>
                </a:solidFill>
                <a:latin typeface="Times New Roman" panose="02020603050405020304" pitchFamily="18" charset="0"/>
                <a:ea typeface="IBM Plex Sans" pitchFamily="34" charset="-122"/>
                <a:cs typeface="Times New Roman" panose="02020603050405020304" pitchFamily="18" charset="0"/>
              </a:rPr>
              <a:t>COSTS</a:t>
            </a:r>
            <a:endParaRPr lang="en-US" sz="1200" dirty="0">
              <a:latin typeface="Times New Roman" panose="02020603050405020304" pitchFamily="18" charset="0"/>
              <a:cs typeface="Times New Roman" panose="02020603050405020304" pitchFamily="18" charset="0"/>
            </a:endParaRPr>
          </a:p>
        </p:txBody>
      </p:sp>
      <p:sp>
        <p:nvSpPr>
          <p:cNvPr id="12" name="Text 35">
            <a:extLst>
              <a:ext uri="{FF2B5EF4-FFF2-40B4-BE49-F238E27FC236}">
                <a16:creationId xmlns:a16="http://schemas.microsoft.com/office/drawing/2014/main" id="{D4A309C0-7EB2-CBEE-4683-75B9C74BEA8C}"/>
              </a:ext>
            </a:extLst>
          </p:cNvPr>
          <p:cNvSpPr/>
          <p:nvPr/>
        </p:nvSpPr>
        <p:spPr>
          <a:xfrm>
            <a:off x="3124200" y="4545520"/>
            <a:ext cx="1473200" cy="121394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4213D"/>
                </a:solidFill>
                <a:latin typeface="Times New Roman" panose="02020603050405020304" pitchFamily="18" charset="0"/>
                <a:ea typeface="IBM Plex Sans" pitchFamily="34" charset="-122"/>
                <a:cs typeface="Times New Roman" panose="02020603050405020304" pitchFamily="18" charset="0"/>
              </a:rPr>
              <a:t>vs single-vector</a:t>
            </a:r>
            <a:endParaRPr lang="en-US" sz="1200" dirty="0">
              <a:latin typeface="Times New Roman" panose="02020603050405020304" pitchFamily="18" charset="0"/>
              <a:cs typeface="Times New Roman" panose="02020603050405020304" pitchFamily="18" charset="0"/>
            </a:endParaRPr>
          </a:p>
        </p:txBody>
      </p:sp>
      <p:sp>
        <p:nvSpPr>
          <p:cNvPr id="14" name="Text 37">
            <a:extLst>
              <a:ext uri="{FF2B5EF4-FFF2-40B4-BE49-F238E27FC236}">
                <a16:creationId xmlns:a16="http://schemas.microsoft.com/office/drawing/2014/main" id="{ABD5653A-61C3-3445-197E-E6F2D45E600F}"/>
              </a:ext>
            </a:extLst>
          </p:cNvPr>
          <p:cNvSpPr/>
          <p:nvPr/>
        </p:nvSpPr>
        <p:spPr>
          <a:xfrm>
            <a:off x="4772406" y="4545520"/>
            <a:ext cx="2627503" cy="1213941"/>
          </a:xfrm>
          <a:prstGeom prst="rect">
            <a:avLst/>
          </a:prstGeom>
          <a:noFill/>
          <a:ln/>
        </p:spPr>
        <p:txBody>
          <a:bodyPr wrap="square" lIns="0" tIns="0" rIns="0" bIns="0" rtlCol="0" anchor="t">
            <a:normAutofit/>
          </a:bodyPr>
          <a:lstStyle/>
          <a:p>
            <a:pPr marL="155194" indent="-155194" algn="l">
              <a:lnSpc>
                <a:spcPts val="1560"/>
              </a:lnSpc>
              <a:buSzPct val="100000"/>
              <a:buChar char="•"/>
            </a:pPr>
            <a:r>
              <a:rPr lang="en-US" sz="1200" dirty="0">
                <a:solidFill>
                  <a:srgbClr val="2F3747"/>
                </a:solidFill>
                <a:latin typeface="Times New Roman" panose="02020603050405020304" pitchFamily="18" charset="0"/>
                <a:ea typeface="IBM Plex Sans" pitchFamily="34" charset="-122"/>
                <a:cs typeface="Times New Roman" panose="02020603050405020304" pitchFamily="18" charset="0"/>
              </a:rPr>
              <a:t>Token-level matching keeps detail</a:t>
            </a:r>
          </a:p>
          <a:p>
            <a:pPr marL="155194" indent="-155194" algn="l">
              <a:lnSpc>
                <a:spcPts val="1560"/>
              </a:lnSpc>
              <a:buSzPct val="100000"/>
              <a:buChar char="•"/>
            </a:pPr>
            <a:r>
              <a:rPr lang="en-US" sz="1200" dirty="0">
                <a:solidFill>
                  <a:srgbClr val="2F3747"/>
                </a:solidFill>
                <a:latin typeface="Times New Roman" panose="02020603050405020304" pitchFamily="18" charset="0"/>
                <a:ea typeface="IBM Plex Sans" pitchFamily="34" charset="-122"/>
                <a:cs typeface="Times New Roman" panose="02020603050405020304" pitchFamily="18" charset="0"/>
              </a:rPr>
              <a:t>A 150M ColBERT beat every model up to 7B on BRIGHT</a:t>
            </a:r>
            <a:endParaRPr lang="en-US" sz="1200" dirty="0">
              <a:latin typeface="Times New Roman" panose="02020603050405020304" pitchFamily="18" charset="0"/>
              <a:cs typeface="Times New Roman" panose="02020603050405020304" pitchFamily="18" charset="0"/>
            </a:endParaRPr>
          </a:p>
        </p:txBody>
      </p:sp>
      <p:sp>
        <p:nvSpPr>
          <p:cNvPr id="16" name="Text 39">
            <a:extLst>
              <a:ext uri="{FF2B5EF4-FFF2-40B4-BE49-F238E27FC236}">
                <a16:creationId xmlns:a16="http://schemas.microsoft.com/office/drawing/2014/main" id="{B3247691-4A43-06A2-99D2-AF21117F1A5A}"/>
              </a:ext>
            </a:extLst>
          </p:cNvPr>
          <p:cNvSpPr/>
          <p:nvPr/>
        </p:nvSpPr>
        <p:spPr>
          <a:xfrm>
            <a:off x="7553706" y="4545520"/>
            <a:ext cx="2627503" cy="1213941"/>
          </a:xfrm>
          <a:prstGeom prst="rect">
            <a:avLst/>
          </a:prstGeom>
          <a:noFill/>
          <a:ln/>
        </p:spPr>
        <p:txBody>
          <a:bodyPr wrap="square" lIns="0" tIns="0" rIns="0" bIns="0" rtlCol="0" anchor="t">
            <a:normAutofit/>
          </a:bodyPr>
          <a:lstStyle/>
          <a:p>
            <a:pPr marL="155194" indent="-155194" algn="l">
              <a:lnSpc>
                <a:spcPts val="1560"/>
              </a:lnSpc>
              <a:buSzPct val="100000"/>
              <a:buChar char="•"/>
            </a:pPr>
            <a:r>
              <a:rPr lang="en-US" sz="1200" dirty="0">
                <a:solidFill>
                  <a:srgbClr val="2F3747"/>
                </a:solidFill>
                <a:latin typeface="Times New Roman" panose="02020603050405020304" pitchFamily="18" charset="0"/>
                <a:ea typeface="IBM Plex Sans" pitchFamily="34" charset="-122"/>
                <a:cs typeface="Times New Roman" panose="02020603050405020304" pitchFamily="18" charset="0"/>
              </a:rPr>
              <a:t>More storage required (</a:t>
            </a:r>
            <a:r>
              <a:rPr lang="en-US" sz="1200" i="1" dirty="0">
                <a:solidFill>
                  <a:srgbClr val="2F3747"/>
                </a:solidFill>
                <a:latin typeface="Times New Roman" panose="02020603050405020304" pitchFamily="18" charset="0"/>
                <a:ea typeface="IBM Plex Sans" pitchFamily="34" charset="-122"/>
                <a:cs typeface="Times New Roman" panose="02020603050405020304" pitchFamily="18" charset="0"/>
              </a:rPr>
              <a:t>but this isn’t a massive data corpus so cheap to store</a:t>
            </a:r>
            <a:r>
              <a:rPr lang="en-US" sz="1200" dirty="0">
                <a:solidFill>
                  <a:srgbClr val="2F3747"/>
                </a:solidFill>
                <a:latin typeface="Times New Roman" panose="02020603050405020304" pitchFamily="18" charset="0"/>
                <a:ea typeface="IBM Plex Sans" pitchFamily="34" charset="-122"/>
                <a:cs typeface="Times New Roman" panose="02020603050405020304" pitchFamily="18" charset="0"/>
              </a:rPr>
              <a:t>)</a:t>
            </a:r>
          </a:p>
          <a:p>
            <a:pPr marL="155194" indent="-155194" algn="l">
              <a:lnSpc>
                <a:spcPts val="1560"/>
              </a:lnSpc>
              <a:buSzPct val="100000"/>
              <a:buChar char="•"/>
            </a:pPr>
            <a:r>
              <a:rPr lang="en-US" sz="1200" dirty="0">
                <a:solidFill>
                  <a:srgbClr val="2F3747"/>
                </a:solidFill>
                <a:latin typeface="Times New Roman" panose="02020603050405020304" pitchFamily="18" charset="0"/>
                <a:ea typeface="IBM Plex Sans" pitchFamily="34" charset="-122"/>
                <a:cs typeface="Times New Roman" panose="02020603050405020304" pitchFamily="18" charset="0"/>
              </a:rPr>
              <a:t>More expensive serving</a:t>
            </a:r>
            <a:endParaRPr lang="en-US" sz="1200" dirty="0">
              <a:latin typeface="Times New Roman" panose="02020603050405020304" pitchFamily="18" charset="0"/>
              <a:cs typeface="Times New Roman" panose="02020603050405020304" pitchFamily="18" charset="0"/>
            </a:endParaRPr>
          </a:p>
        </p:txBody>
      </p:sp>
      <p:sp>
        <p:nvSpPr>
          <p:cNvPr id="17" name="Text 41">
            <a:extLst>
              <a:ext uri="{FF2B5EF4-FFF2-40B4-BE49-F238E27FC236}">
                <a16:creationId xmlns:a16="http://schemas.microsoft.com/office/drawing/2014/main" id="{0E730020-85FD-6817-3858-D51AF1E1EF14}"/>
              </a:ext>
            </a:extLst>
          </p:cNvPr>
          <p:cNvSpPr/>
          <p:nvPr/>
        </p:nvSpPr>
        <p:spPr>
          <a:xfrm>
            <a:off x="3124200" y="5918211"/>
            <a:ext cx="1473200" cy="101585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4213D"/>
                </a:solidFill>
                <a:latin typeface="Times New Roman" panose="02020603050405020304" pitchFamily="18" charset="0"/>
                <a:ea typeface="IBM Plex Sans" pitchFamily="34" charset="-122"/>
                <a:cs typeface="Times New Roman" panose="02020603050405020304" pitchFamily="18" charset="0"/>
              </a:rPr>
              <a:t>vs cross-encoder</a:t>
            </a:r>
            <a:endParaRPr lang="en-US" sz="1200" dirty="0">
              <a:latin typeface="Times New Roman" panose="02020603050405020304" pitchFamily="18" charset="0"/>
              <a:cs typeface="Times New Roman" panose="02020603050405020304" pitchFamily="18" charset="0"/>
            </a:endParaRPr>
          </a:p>
        </p:txBody>
      </p:sp>
      <p:sp>
        <p:nvSpPr>
          <p:cNvPr id="18" name="Text 43">
            <a:extLst>
              <a:ext uri="{FF2B5EF4-FFF2-40B4-BE49-F238E27FC236}">
                <a16:creationId xmlns:a16="http://schemas.microsoft.com/office/drawing/2014/main" id="{3AB4C092-891C-1A78-0C06-E12829BB23BC}"/>
              </a:ext>
            </a:extLst>
          </p:cNvPr>
          <p:cNvSpPr/>
          <p:nvPr/>
        </p:nvSpPr>
        <p:spPr>
          <a:xfrm>
            <a:off x="4772406" y="5918211"/>
            <a:ext cx="2627503" cy="1015851"/>
          </a:xfrm>
          <a:prstGeom prst="rect">
            <a:avLst/>
          </a:prstGeom>
          <a:noFill/>
          <a:ln/>
        </p:spPr>
        <p:txBody>
          <a:bodyPr wrap="square" lIns="0" tIns="0" rIns="0" bIns="0" rtlCol="0" anchor="t">
            <a:normAutofit/>
          </a:bodyPr>
          <a:lstStyle/>
          <a:p>
            <a:pPr marL="155194" indent="-155194" algn="l">
              <a:lnSpc>
                <a:spcPts val="1560"/>
              </a:lnSpc>
              <a:buSzPct val="100000"/>
              <a:buChar char="•"/>
            </a:pPr>
            <a:r>
              <a:rPr lang="en-US" sz="1200" dirty="0">
                <a:solidFill>
                  <a:srgbClr val="2F3747"/>
                </a:solidFill>
                <a:latin typeface="Times New Roman" panose="02020603050405020304" pitchFamily="18" charset="0"/>
                <a:ea typeface="IBM Plex Sans" pitchFamily="34" charset="-122"/>
                <a:cs typeface="Times New Roman" panose="02020603050405020304" pitchFamily="18" charset="0"/>
              </a:rPr>
              <a:t>~100x faster, up to 10,000x fewer FLOPs per query</a:t>
            </a:r>
            <a:endParaRPr lang="en-US" sz="1200" dirty="0">
              <a:latin typeface="Times New Roman" panose="02020603050405020304" pitchFamily="18" charset="0"/>
              <a:cs typeface="Times New Roman" panose="02020603050405020304" pitchFamily="18" charset="0"/>
            </a:endParaRPr>
          </a:p>
          <a:p>
            <a:pPr marL="155194" indent="-155194" algn="l">
              <a:lnSpc>
                <a:spcPts val="1560"/>
              </a:lnSpc>
              <a:buSzPct val="100000"/>
              <a:buChar char="•"/>
            </a:pPr>
            <a:r>
              <a:rPr lang="en-US" sz="1200" dirty="0">
                <a:solidFill>
                  <a:srgbClr val="2F3747"/>
                </a:solidFill>
                <a:latin typeface="Times New Roman" panose="02020603050405020304" pitchFamily="18" charset="0"/>
                <a:ea typeface="IBM Plex Sans" pitchFamily="34" charset="-122"/>
                <a:cs typeface="Times New Roman" panose="02020603050405020304" pitchFamily="18" charset="0"/>
              </a:rPr>
              <a:t>Retrieves from the full corpus</a:t>
            </a:r>
            <a:endParaRPr lang="en-US" sz="1200" dirty="0">
              <a:latin typeface="Times New Roman" panose="02020603050405020304" pitchFamily="18" charset="0"/>
              <a:cs typeface="Times New Roman" panose="02020603050405020304" pitchFamily="18" charset="0"/>
            </a:endParaRPr>
          </a:p>
        </p:txBody>
      </p:sp>
      <p:sp>
        <p:nvSpPr>
          <p:cNvPr id="19" name="Text 45">
            <a:extLst>
              <a:ext uri="{FF2B5EF4-FFF2-40B4-BE49-F238E27FC236}">
                <a16:creationId xmlns:a16="http://schemas.microsoft.com/office/drawing/2014/main" id="{76E0ACC0-14A9-A19A-8223-99203A74CF59}"/>
              </a:ext>
            </a:extLst>
          </p:cNvPr>
          <p:cNvSpPr/>
          <p:nvPr/>
        </p:nvSpPr>
        <p:spPr>
          <a:xfrm>
            <a:off x="7553705" y="5936011"/>
            <a:ext cx="2627503" cy="1015851"/>
          </a:xfrm>
          <a:prstGeom prst="rect">
            <a:avLst/>
          </a:prstGeom>
          <a:noFill/>
          <a:ln/>
        </p:spPr>
        <p:txBody>
          <a:bodyPr wrap="square" lIns="0" tIns="0" rIns="0" bIns="0" rtlCol="0" anchor="t">
            <a:normAutofit/>
          </a:bodyPr>
          <a:lstStyle/>
          <a:p>
            <a:pPr marL="155194" indent="-155194" algn="l">
              <a:lnSpc>
                <a:spcPts val="1560"/>
              </a:lnSpc>
              <a:buSzPct val="100000"/>
              <a:buChar char="•"/>
            </a:pPr>
            <a:r>
              <a:rPr lang="en-US" sz="1200" dirty="0">
                <a:solidFill>
                  <a:srgbClr val="2F3747"/>
                </a:solidFill>
                <a:latin typeface="Times New Roman" panose="02020603050405020304" pitchFamily="18" charset="0"/>
                <a:ea typeface="IBM Plex Sans" pitchFamily="34" charset="-122"/>
                <a:cs typeface="Times New Roman" panose="02020603050405020304" pitchFamily="18" charset="0"/>
              </a:rPr>
              <a:t>Trails the best cross-encoders on accuracy</a:t>
            </a:r>
            <a:endParaRPr lang="en-US" sz="1200" dirty="0">
              <a:latin typeface="Times New Roman" panose="02020603050405020304" pitchFamily="18" charset="0"/>
              <a:cs typeface="Times New Roman" panose="02020603050405020304" pitchFamily="18" charset="0"/>
            </a:endParaRPr>
          </a:p>
          <a:p>
            <a:pPr marL="155194" indent="-155194" algn="l">
              <a:lnSpc>
                <a:spcPts val="1560"/>
              </a:lnSpc>
              <a:buSzPct val="100000"/>
              <a:buChar char="•"/>
            </a:pPr>
            <a:r>
              <a:rPr lang="en-US" sz="1200" dirty="0">
                <a:solidFill>
                  <a:srgbClr val="2F3747"/>
                </a:solidFill>
                <a:latin typeface="Times New Roman" panose="02020603050405020304" pitchFamily="18" charset="0"/>
                <a:ea typeface="IBM Plex Sans" pitchFamily="34" charset="-122"/>
                <a:cs typeface="Times New Roman" panose="02020603050405020304" pitchFamily="18" charset="0"/>
              </a:rPr>
              <a:t>Adds an index to build and store</a:t>
            </a:r>
            <a:endParaRPr lang="en-US" sz="1200" dirty="0">
              <a:latin typeface="Times New Roman" panose="02020603050405020304" pitchFamily="18" charset="0"/>
              <a:cs typeface="Times New Roman" panose="02020603050405020304" pitchFamily="18" charset="0"/>
            </a:endParaRPr>
          </a:p>
        </p:txBody>
      </p:sp>
      <p:sp>
        <p:nvSpPr>
          <p:cNvPr id="20" name="Text 1">
            <a:extLst>
              <a:ext uri="{FF2B5EF4-FFF2-40B4-BE49-F238E27FC236}">
                <a16:creationId xmlns:a16="http://schemas.microsoft.com/office/drawing/2014/main" id="{D626673C-BF31-1506-BD63-62DCFB84C136}"/>
              </a:ext>
            </a:extLst>
          </p:cNvPr>
          <p:cNvSpPr txBox="1">
            <a:spLocks/>
          </p:cNvSpPr>
          <p:nvPr/>
        </p:nvSpPr>
        <p:spPr>
          <a:xfrm>
            <a:off x="307897" y="4154565"/>
            <a:ext cx="2816303" cy="528290"/>
          </a:xfrm>
          <a:prstGeom prst="rect">
            <a:avLst/>
          </a:prstGeom>
          <a:noFill/>
          <a:ln/>
        </p:spPr>
        <p:txBody>
          <a:bodyPr wrap="square" lIns="0" tIns="0" rIns="0" bIns="0" rtlCol="0" anchor="t">
            <a:normAutofit fontScale="55000" lnSpcReduction="20000"/>
          </a:bodyPr>
          <a:lstStyle>
            <a:lvl1pPr marL="0" indent="0" algn="l" defTabSz="914400" rtl="0" eaLnBrk="1" latinLnBrk="0" hangingPunct="1">
              <a:lnSpc>
                <a:spcPct val="115000"/>
              </a:lnSpc>
              <a:spcBef>
                <a:spcPct val="0"/>
              </a:spcBef>
              <a:buNone/>
              <a:defRPr lang="en-US" sz="3600" kern="1200" dirty="0">
                <a:solidFill>
                  <a:srgbClr val="16233B"/>
                </a:solidFill>
                <a:latin typeface="Source Serif 4" pitchFamily="34" charset="0"/>
                <a:ea typeface="Source Serif 4" pitchFamily="34" charset="-122"/>
                <a:cs typeface="Source Serif 4" pitchFamily="34" charset="-120"/>
              </a:defRPr>
            </a:lvl1pPr>
          </a:lstStyle>
          <a:p>
            <a:pPr>
              <a:lnSpc>
                <a:spcPts val="3960"/>
              </a:lnSpc>
            </a:pPr>
            <a:r>
              <a:rPr lang="en-US" b="1" dirty="0">
                <a:latin typeface="Times New Roman" panose="02020603050405020304" pitchFamily="18" charset="0"/>
                <a:ea typeface="Source Serif 4" pitchFamily="18" charset="-122"/>
                <a:cs typeface="Times New Roman" panose="02020603050405020304" pitchFamily="18" charset="0"/>
              </a:rPr>
              <a:t>Why Late Interaction?</a:t>
            </a:r>
            <a:endParaRPr lang="en-US" b="1" dirty="0">
              <a:latin typeface="Times New Roman" panose="02020603050405020304" pitchFamily="18" charset="0"/>
              <a:cs typeface="Times New Roman" panose="02020603050405020304" pitchFamily="18" charset="0"/>
            </a:endParaRPr>
          </a:p>
        </p:txBody>
      </p:sp>
      <p:cxnSp>
        <p:nvCxnSpPr>
          <p:cNvPr id="8" name="Straight Connector 7">
            <a:extLst>
              <a:ext uri="{FF2B5EF4-FFF2-40B4-BE49-F238E27FC236}">
                <a16:creationId xmlns:a16="http://schemas.microsoft.com/office/drawing/2014/main" id="{EAC899E9-5656-2E1E-5C97-1AB4E292BA74}"/>
              </a:ext>
            </a:extLst>
          </p:cNvPr>
          <p:cNvCxnSpPr/>
          <p:nvPr/>
        </p:nvCxnSpPr>
        <p:spPr>
          <a:xfrm>
            <a:off x="3124200" y="5679440"/>
            <a:ext cx="7057008" cy="0"/>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C7CBFCC8-B145-F2A4-C765-AE145581ADBB}"/>
              </a:ext>
            </a:extLst>
          </p:cNvPr>
          <p:cNvCxnSpPr>
            <a:cxnSpLocks/>
            <a:stCxn id="9" idx="3"/>
          </p:cNvCxnSpPr>
          <p:nvPr/>
        </p:nvCxnSpPr>
        <p:spPr>
          <a:xfrm>
            <a:off x="7404481" y="4301689"/>
            <a:ext cx="0" cy="2393751"/>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sld>
</file>

<file path=ppt/theme/theme1.xml><?xml version="1.0" encoding="utf-8"?>
<a:theme xmlns:a="http://schemas.openxmlformats.org/drawingml/2006/main" name="Contract Intelligence">
  <a:themeElements>
    <a:clrScheme name="Contract Intelligence">
      <a:dk1>
        <a:srgbClr val="16233B"/>
      </a:dk1>
      <a:lt1>
        <a:srgbClr val="ECE8DF"/>
      </a:lt1>
      <a:dk2>
        <a:srgbClr val="4C5464"/>
      </a:dk2>
      <a:lt2>
        <a:srgbClr val="D7D4CF"/>
      </a:lt2>
      <a:accent1>
        <a:srgbClr val="A6461F"/>
      </a:accent1>
      <a:accent2>
        <a:srgbClr val="E39A6E"/>
      </a:accent2>
      <a:accent3>
        <a:srgbClr val="24502F"/>
      </a:accent3>
      <a:accent4>
        <a:srgbClr val="8A3A17"/>
      </a:accent4>
      <a:accent5>
        <a:srgbClr val="4A5363"/>
      </a:accent5>
      <a:accent6>
        <a:srgbClr val="6B7280"/>
      </a:accent6>
      <a:hlink>
        <a:srgbClr val="0563C1"/>
      </a:hlink>
      <a:folHlink>
        <a:srgbClr val="954F72"/>
      </a:folHlink>
    </a:clrScheme>
    <a:fontScheme name="Contract Intelligence">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742</TotalTime>
  <Words>2469</Words>
  <Application>Microsoft Macintosh PowerPoint</Application>
  <PresentationFormat>Widescreen</PresentationFormat>
  <Paragraphs>151</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IBM Plex Sans</vt:lpstr>
      <vt:lpstr>Source Serif 4</vt:lpstr>
      <vt:lpstr>Times New Roman</vt:lpstr>
      <vt:lpstr>Contract Intelligence</vt:lpstr>
      <vt:lpstr>Turning a document into a row</vt:lpstr>
      <vt:lpstr>One row per contract + cited evidence</vt:lpstr>
      <vt:lpstr>How a question gets answered</vt:lpstr>
      <vt:lpstr>What broke, what I fixed, and the retest</vt:lpstr>
      <vt:lpstr>How it runs</vt:lpstr>
      <vt:lpstr>Design choices and trade-offs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Contract Intelligence</dc:title>
  <dc:subject/>
  <dc:creator/>
  <cp:lastModifiedBy>Jason Rubenstein</cp:lastModifiedBy>
  <cp:revision>80</cp:revision>
  <dcterms:created xsi:type="dcterms:W3CDTF">2026-10-13T12:58:08Z</dcterms:created>
  <dcterms:modified xsi:type="dcterms:W3CDTF">2026-10-14T01:20:46Z</dcterms:modified>
</cp:coreProperties>
</file>